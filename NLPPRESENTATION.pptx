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8" r:id="rId2"/>
    <p:sldId id="257" r:id="rId3"/>
    <p:sldId id="259" r:id="rId4"/>
    <p:sldId id="260" r:id="rId5"/>
    <p:sldId id="274" r:id="rId6"/>
    <p:sldId id="275" r:id="rId7"/>
    <p:sldId id="276" r:id="rId8"/>
    <p:sldId id="277" r:id="rId9"/>
    <p:sldId id="278" r:id="rId10"/>
    <p:sldId id="279" r:id="rId11"/>
    <p:sldId id="280" r:id="rId12"/>
    <p:sldId id="281" r:id="rId13"/>
    <p:sldId id="282" r:id="rId14"/>
    <p:sldId id="283" r:id="rId15"/>
    <p:sldId id="271" r:id="rId16"/>
    <p:sldId id="27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AEBCD7-1F51-4F31-8C0F-9517A4623E06}" v="22" dt="2026-04-23T15:36:42.0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533D7C-B902-47C1-A09E-E2C182387B69}" type="datetimeFigureOut">
              <a:rPr lang="en-IN" smtClean="0"/>
              <a:t>29-04-2026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98D8CF-A67D-47BF-861E-96DB8DC8F092}" type="slidenum">
              <a:rPr lang="en-IN" smtClean="0"/>
              <a:t>‹#›</a:t>
            </a:fld>
            <a:endParaRPr lang="en-IN" dirty="0"/>
          </a:p>
        </p:txBody>
      </p:sp>
    </p:spTree>
    <p:extLst>
      <p:ext uri="{BB962C8B-B14F-4D97-AF65-F5344CB8AC3E}">
        <p14:creationId xmlns:p14="http://schemas.microsoft.com/office/powerpoint/2010/main" val="34819810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998D8CF-A67D-47BF-861E-96DB8DC8F092}" type="slidenum">
              <a:rPr lang="en-IN" smtClean="0"/>
              <a:t>2</a:t>
            </a:fld>
            <a:endParaRPr lang="en-IN" dirty="0"/>
          </a:p>
        </p:txBody>
      </p:sp>
    </p:spTree>
    <p:extLst>
      <p:ext uri="{BB962C8B-B14F-4D97-AF65-F5344CB8AC3E}">
        <p14:creationId xmlns:p14="http://schemas.microsoft.com/office/powerpoint/2010/main" val="32629087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CB9E6-DD97-02B3-4CDE-FB91615B549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1A235C5-B69A-E158-5B8E-36416D699B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48E6814-D959-4A23-672C-A739B62B7197}"/>
              </a:ext>
            </a:extLst>
          </p:cNvPr>
          <p:cNvSpPr>
            <a:spLocks noGrp="1"/>
          </p:cNvSpPr>
          <p:nvPr>
            <p:ph type="dt" sz="half" idx="10"/>
          </p:nvPr>
        </p:nvSpPr>
        <p:spPr/>
        <p:txBody>
          <a:bodyPr/>
          <a:lstStyle/>
          <a:p>
            <a:fld id="{6E8233A6-C9A0-4651-8A41-B20BEB294FE0}" type="datetime1">
              <a:rPr lang="en-US" smtClean="0"/>
              <a:t>4/29/2026</a:t>
            </a:fld>
            <a:endParaRPr lang="en-IN" dirty="0"/>
          </a:p>
        </p:txBody>
      </p:sp>
      <p:sp>
        <p:nvSpPr>
          <p:cNvPr id="5" name="Footer Placeholder 4">
            <a:extLst>
              <a:ext uri="{FF2B5EF4-FFF2-40B4-BE49-F238E27FC236}">
                <a16:creationId xmlns:a16="http://schemas.microsoft.com/office/drawing/2014/main" id="{927B5565-EF03-EFD4-A317-05A65814E8C7}"/>
              </a:ext>
            </a:extLst>
          </p:cNvPr>
          <p:cNvSpPr>
            <a:spLocks noGrp="1"/>
          </p:cNvSpPr>
          <p:nvPr>
            <p:ph type="ftr" sz="quarter" idx="11"/>
          </p:nvPr>
        </p:nvSpPr>
        <p:spPr/>
        <p:txBody>
          <a:bodyPr/>
          <a:lstStyle/>
          <a:p>
            <a:r>
              <a:rPr lang="en-IN" dirty="0"/>
              <a:t>Text2Realm,Dept of AIML</a:t>
            </a:r>
          </a:p>
        </p:txBody>
      </p:sp>
      <p:sp>
        <p:nvSpPr>
          <p:cNvPr id="6" name="Slide Number Placeholder 5">
            <a:extLst>
              <a:ext uri="{FF2B5EF4-FFF2-40B4-BE49-F238E27FC236}">
                <a16:creationId xmlns:a16="http://schemas.microsoft.com/office/drawing/2014/main" id="{42E8FD8B-CD30-336C-FB1C-ED90EA871C81}"/>
              </a:ext>
            </a:extLst>
          </p:cNvPr>
          <p:cNvSpPr>
            <a:spLocks noGrp="1"/>
          </p:cNvSpPr>
          <p:nvPr>
            <p:ph type="sldNum" sz="quarter" idx="12"/>
          </p:nvPr>
        </p:nvSpPr>
        <p:spPr/>
        <p:txBody>
          <a:bodyPr/>
          <a:lstStyle/>
          <a:p>
            <a:fld id="{4F8E779C-ED91-4F95-87E7-CD40D1061BB2}" type="slidenum">
              <a:rPr lang="en-IN" smtClean="0"/>
              <a:t>‹#›</a:t>
            </a:fld>
            <a:endParaRPr lang="en-IN" dirty="0"/>
          </a:p>
        </p:txBody>
      </p:sp>
    </p:spTree>
    <p:extLst>
      <p:ext uri="{BB962C8B-B14F-4D97-AF65-F5344CB8AC3E}">
        <p14:creationId xmlns:p14="http://schemas.microsoft.com/office/powerpoint/2010/main" val="3272256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05CC6-866B-66EC-EE2A-C4863FE00C2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5F556CB-F3CB-2925-EA00-748D6EC8ECA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C4B055-BA1E-B7D2-5A15-BE015F3759C3}"/>
              </a:ext>
            </a:extLst>
          </p:cNvPr>
          <p:cNvSpPr>
            <a:spLocks noGrp="1"/>
          </p:cNvSpPr>
          <p:nvPr>
            <p:ph type="dt" sz="half" idx="10"/>
          </p:nvPr>
        </p:nvSpPr>
        <p:spPr/>
        <p:txBody>
          <a:bodyPr/>
          <a:lstStyle/>
          <a:p>
            <a:fld id="{748C2B3D-EBD5-4237-BF30-396E79B726C3}" type="datetime1">
              <a:rPr lang="en-US" smtClean="0"/>
              <a:t>4/29/2026</a:t>
            </a:fld>
            <a:endParaRPr lang="en-IN" dirty="0"/>
          </a:p>
        </p:txBody>
      </p:sp>
      <p:sp>
        <p:nvSpPr>
          <p:cNvPr id="5" name="Footer Placeholder 4">
            <a:extLst>
              <a:ext uri="{FF2B5EF4-FFF2-40B4-BE49-F238E27FC236}">
                <a16:creationId xmlns:a16="http://schemas.microsoft.com/office/drawing/2014/main" id="{3CBD6286-5406-2A48-E7E9-C7BADA87AEDD}"/>
              </a:ext>
            </a:extLst>
          </p:cNvPr>
          <p:cNvSpPr>
            <a:spLocks noGrp="1"/>
          </p:cNvSpPr>
          <p:nvPr>
            <p:ph type="ftr" sz="quarter" idx="11"/>
          </p:nvPr>
        </p:nvSpPr>
        <p:spPr/>
        <p:txBody>
          <a:bodyPr/>
          <a:lstStyle/>
          <a:p>
            <a:r>
              <a:rPr lang="en-IN" dirty="0"/>
              <a:t>Text2Realm,Dept of AIML</a:t>
            </a:r>
          </a:p>
        </p:txBody>
      </p:sp>
      <p:sp>
        <p:nvSpPr>
          <p:cNvPr id="6" name="Slide Number Placeholder 5">
            <a:extLst>
              <a:ext uri="{FF2B5EF4-FFF2-40B4-BE49-F238E27FC236}">
                <a16:creationId xmlns:a16="http://schemas.microsoft.com/office/drawing/2014/main" id="{74E49374-14FD-8F7E-03C5-9FA412D23AC6}"/>
              </a:ext>
            </a:extLst>
          </p:cNvPr>
          <p:cNvSpPr>
            <a:spLocks noGrp="1"/>
          </p:cNvSpPr>
          <p:nvPr>
            <p:ph type="sldNum" sz="quarter" idx="12"/>
          </p:nvPr>
        </p:nvSpPr>
        <p:spPr/>
        <p:txBody>
          <a:bodyPr/>
          <a:lstStyle/>
          <a:p>
            <a:fld id="{4F8E779C-ED91-4F95-87E7-CD40D1061BB2}" type="slidenum">
              <a:rPr lang="en-IN" smtClean="0"/>
              <a:t>‹#›</a:t>
            </a:fld>
            <a:endParaRPr lang="en-IN" dirty="0"/>
          </a:p>
        </p:txBody>
      </p:sp>
    </p:spTree>
    <p:extLst>
      <p:ext uri="{BB962C8B-B14F-4D97-AF65-F5344CB8AC3E}">
        <p14:creationId xmlns:p14="http://schemas.microsoft.com/office/powerpoint/2010/main" val="11153716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89340-4F49-93C7-647F-099A73860F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19ABC59-81D1-C16D-4621-EFAE72DBB8E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44F535-F767-21EB-DC7D-FA95134E52DC}"/>
              </a:ext>
            </a:extLst>
          </p:cNvPr>
          <p:cNvSpPr>
            <a:spLocks noGrp="1"/>
          </p:cNvSpPr>
          <p:nvPr>
            <p:ph type="dt" sz="half" idx="10"/>
          </p:nvPr>
        </p:nvSpPr>
        <p:spPr/>
        <p:txBody>
          <a:bodyPr/>
          <a:lstStyle/>
          <a:p>
            <a:fld id="{6DB9FE79-191F-48A2-B889-56DA711596E1}" type="datetime1">
              <a:rPr lang="en-US" smtClean="0"/>
              <a:t>4/29/2026</a:t>
            </a:fld>
            <a:endParaRPr lang="en-IN" dirty="0"/>
          </a:p>
        </p:txBody>
      </p:sp>
      <p:sp>
        <p:nvSpPr>
          <p:cNvPr id="5" name="Footer Placeholder 4">
            <a:extLst>
              <a:ext uri="{FF2B5EF4-FFF2-40B4-BE49-F238E27FC236}">
                <a16:creationId xmlns:a16="http://schemas.microsoft.com/office/drawing/2014/main" id="{0AD42812-EF11-C8A1-97B3-564F4DAB2247}"/>
              </a:ext>
            </a:extLst>
          </p:cNvPr>
          <p:cNvSpPr>
            <a:spLocks noGrp="1"/>
          </p:cNvSpPr>
          <p:nvPr>
            <p:ph type="ftr" sz="quarter" idx="11"/>
          </p:nvPr>
        </p:nvSpPr>
        <p:spPr/>
        <p:txBody>
          <a:bodyPr/>
          <a:lstStyle/>
          <a:p>
            <a:r>
              <a:rPr lang="en-IN" dirty="0"/>
              <a:t>Text2Realm,Dept of AIML</a:t>
            </a:r>
          </a:p>
        </p:txBody>
      </p:sp>
      <p:sp>
        <p:nvSpPr>
          <p:cNvPr id="6" name="Slide Number Placeholder 5">
            <a:extLst>
              <a:ext uri="{FF2B5EF4-FFF2-40B4-BE49-F238E27FC236}">
                <a16:creationId xmlns:a16="http://schemas.microsoft.com/office/drawing/2014/main" id="{EEE07FEE-D30A-37A6-ADA3-C0C180021837}"/>
              </a:ext>
            </a:extLst>
          </p:cNvPr>
          <p:cNvSpPr>
            <a:spLocks noGrp="1"/>
          </p:cNvSpPr>
          <p:nvPr>
            <p:ph type="sldNum" sz="quarter" idx="12"/>
          </p:nvPr>
        </p:nvSpPr>
        <p:spPr/>
        <p:txBody>
          <a:bodyPr/>
          <a:lstStyle/>
          <a:p>
            <a:fld id="{4F8E779C-ED91-4F95-87E7-CD40D1061BB2}" type="slidenum">
              <a:rPr lang="en-IN" smtClean="0"/>
              <a:t>‹#›</a:t>
            </a:fld>
            <a:endParaRPr lang="en-IN" dirty="0"/>
          </a:p>
        </p:txBody>
      </p:sp>
    </p:spTree>
    <p:extLst>
      <p:ext uri="{BB962C8B-B14F-4D97-AF65-F5344CB8AC3E}">
        <p14:creationId xmlns:p14="http://schemas.microsoft.com/office/powerpoint/2010/main" val="2222525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3D9AF-05F5-DAA8-5C80-CD35C950B9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5D4B6CD-3202-959F-A05E-43CAB051D7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B4E878C-3398-AB1F-FC87-CDF84977AA6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69EF4C4-6636-E104-5614-1E0DFF888056}"/>
              </a:ext>
            </a:extLst>
          </p:cNvPr>
          <p:cNvSpPr>
            <a:spLocks noGrp="1"/>
          </p:cNvSpPr>
          <p:nvPr>
            <p:ph type="dt" sz="half" idx="10"/>
          </p:nvPr>
        </p:nvSpPr>
        <p:spPr/>
        <p:txBody>
          <a:bodyPr/>
          <a:lstStyle/>
          <a:p>
            <a:fld id="{03474B66-4F74-4B3B-8635-EA02ECE0DF3F}" type="datetime1">
              <a:rPr lang="en-US" smtClean="0"/>
              <a:t>4/29/2026</a:t>
            </a:fld>
            <a:endParaRPr lang="en-IN" dirty="0"/>
          </a:p>
        </p:txBody>
      </p:sp>
      <p:sp>
        <p:nvSpPr>
          <p:cNvPr id="6" name="Footer Placeholder 5">
            <a:extLst>
              <a:ext uri="{FF2B5EF4-FFF2-40B4-BE49-F238E27FC236}">
                <a16:creationId xmlns:a16="http://schemas.microsoft.com/office/drawing/2014/main" id="{AF7DCC50-E45C-5F8C-FF66-0BBBCA5FA37A}"/>
              </a:ext>
            </a:extLst>
          </p:cNvPr>
          <p:cNvSpPr>
            <a:spLocks noGrp="1"/>
          </p:cNvSpPr>
          <p:nvPr>
            <p:ph type="ftr" sz="quarter" idx="11"/>
          </p:nvPr>
        </p:nvSpPr>
        <p:spPr/>
        <p:txBody>
          <a:bodyPr/>
          <a:lstStyle/>
          <a:p>
            <a:r>
              <a:rPr lang="en-IN" dirty="0"/>
              <a:t>Text2Realm,Dept of AIML</a:t>
            </a:r>
          </a:p>
        </p:txBody>
      </p:sp>
      <p:sp>
        <p:nvSpPr>
          <p:cNvPr id="7" name="Slide Number Placeholder 6">
            <a:extLst>
              <a:ext uri="{FF2B5EF4-FFF2-40B4-BE49-F238E27FC236}">
                <a16:creationId xmlns:a16="http://schemas.microsoft.com/office/drawing/2014/main" id="{32551B41-57AD-E967-9889-5E4C5ABE6577}"/>
              </a:ext>
            </a:extLst>
          </p:cNvPr>
          <p:cNvSpPr>
            <a:spLocks noGrp="1"/>
          </p:cNvSpPr>
          <p:nvPr>
            <p:ph type="sldNum" sz="quarter" idx="12"/>
          </p:nvPr>
        </p:nvSpPr>
        <p:spPr/>
        <p:txBody>
          <a:bodyPr/>
          <a:lstStyle/>
          <a:p>
            <a:fld id="{4F8E779C-ED91-4F95-87E7-CD40D1061BB2}" type="slidenum">
              <a:rPr lang="en-IN" smtClean="0"/>
              <a:t>‹#›</a:t>
            </a:fld>
            <a:endParaRPr lang="en-IN" dirty="0"/>
          </a:p>
        </p:txBody>
      </p:sp>
    </p:spTree>
    <p:extLst>
      <p:ext uri="{BB962C8B-B14F-4D97-AF65-F5344CB8AC3E}">
        <p14:creationId xmlns:p14="http://schemas.microsoft.com/office/powerpoint/2010/main" val="39474271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72A7B-2391-5AD5-8D98-2D023B7E124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BA4B159-72F1-CCE9-F98D-CECB7B69C7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40EEDC-93BE-3223-9C0A-A6BAD9326E3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DFFADC4-8769-12AA-A258-7324B25A4B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F91988-BFE5-3DE4-FEB9-E87492CC95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932DAC0-F168-DE16-769C-7E979FD4BD08}"/>
              </a:ext>
            </a:extLst>
          </p:cNvPr>
          <p:cNvSpPr>
            <a:spLocks noGrp="1"/>
          </p:cNvSpPr>
          <p:nvPr>
            <p:ph type="dt" sz="half" idx="10"/>
          </p:nvPr>
        </p:nvSpPr>
        <p:spPr/>
        <p:txBody>
          <a:bodyPr/>
          <a:lstStyle/>
          <a:p>
            <a:fld id="{5AC7AE0A-F93D-4235-9317-FA1F61B197B7}" type="datetime1">
              <a:rPr lang="en-US" smtClean="0"/>
              <a:t>4/29/2026</a:t>
            </a:fld>
            <a:endParaRPr lang="en-IN" dirty="0"/>
          </a:p>
        </p:txBody>
      </p:sp>
      <p:sp>
        <p:nvSpPr>
          <p:cNvPr id="8" name="Footer Placeholder 7">
            <a:extLst>
              <a:ext uri="{FF2B5EF4-FFF2-40B4-BE49-F238E27FC236}">
                <a16:creationId xmlns:a16="http://schemas.microsoft.com/office/drawing/2014/main" id="{8A584456-5924-D8C9-3EB0-239BF60CCA5A}"/>
              </a:ext>
            </a:extLst>
          </p:cNvPr>
          <p:cNvSpPr>
            <a:spLocks noGrp="1"/>
          </p:cNvSpPr>
          <p:nvPr>
            <p:ph type="ftr" sz="quarter" idx="11"/>
          </p:nvPr>
        </p:nvSpPr>
        <p:spPr/>
        <p:txBody>
          <a:bodyPr/>
          <a:lstStyle/>
          <a:p>
            <a:r>
              <a:rPr lang="en-IN" dirty="0"/>
              <a:t>Text2Realm,Dept of AIML</a:t>
            </a:r>
          </a:p>
        </p:txBody>
      </p:sp>
      <p:sp>
        <p:nvSpPr>
          <p:cNvPr id="9" name="Slide Number Placeholder 8">
            <a:extLst>
              <a:ext uri="{FF2B5EF4-FFF2-40B4-BE49-F238E27FC236}">
                <a16:creationId xmlns:a16="http://schemas.microsoft.com/office/drawing/2014/main" id="{3EF315D6-5170-3959-EF58-6B51828C9F1B}"/>
              </a:ext>
            </a:extLst>
          </p:cNvPr>
          <p:cNvSpPr>
            <a:spLocks noGrp="1"/>
          </p:cNvSpPr>
          <p:nvPr>
            <p:ph type="sldNum" sz="quarter" idx="12"/>
          </p:nvPr>
        </p:nvSpPr>
        <p:spPr/>
        <p:txBody>
          <a:bodyPr/>
          <a:lstStyle/>
          <a:p>
            <a:fld id="{4F8E779C-ED91-4F95-87E7-CD40D1061BB2}" type="slidenum">
              <a:rPr lang="en-IN" smtClean="0"/>
              <a:t>‹#›</a:t>
            </a:fld>
            <a:endParaRPr lang="en-IN" dirty="0"/>
          </a:p>
        </p:txBody>
      </p:sp>
    </p:spTree>
    <p:extLst>
      <p:ext uri="{BB962C8B-B14F-4D97-AF65-F5344CB8AC3E}">
        <p14:creationId xmlns:p14="http://schemas.microsoft.com/office/powerpoint/2010/main" val="900032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F2E06-D656-8386-7591-7E581ED1625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B993B4-E19F-822E-2FA4-634EA95BB263}"/>
              </a:ext>
            </a:extLst>
          </p:cNvPr>
          <p:cNvSpPr>
            <a:spLocks noGrp="1"/>
          </p:cNvSpPr>
          <p:nvPr>
            <p:ph type="dt" sz="half" idx="10"/>
          </p:nvPr>
        </p:nvSpPr>
        <p:spPr/>
        <p:txBody>
          <a:bodyPr/>
          <a:lstStyle/>
          <a:p>
            <a:fld id="{21FF09B7-FE46-4C3A-A0E3-FBC770379C9B}" type="datetime1">
              <a:rPr lang="en-US" smtClean="0"/>
              <a:t>4/29/2026</a:t>
            </a:fld>
            <a:endParaRPr lang="en-IN" dirty="0"/>
          </a:p>
        </p:txBody>
      </p:sp>
      <p:sp>
        <p:nvSpPr>
          <p:cNvPr id="4" name="Footer Placeholder 3">
            <a:extLst>
              <a:ext uri="{FF2B5EF4-FFF2-40B4-BE49-F238E27FC236}">
                <a16:creationId xmlns:a16="http://schemas.microsoft.com/office/drawing/2014/main" id="{5F7A14C8-FA37-8E3E-95A0-35A68D1A59DF}"/>
              </a:ext>
            </a:extLst>
          </p:cNvPr>
          <p:cNvSpPr>
            <a:spLocks noGrp="1"/>
          </p:cNvSpPr>
          <p:nvPr>
            <p:ph type="ftr" sz="quarter" idx="11"/>
          </p:nvPr>
        </p:nvSpPr>
        <p:spPr/>
        <p:txBody>
          <a:bodyPr/>
          <a:lstStyle/>
          <a:p>
            <a:r>
              <a:rPr lang="en-IN" dirty="0"/>
              <a:t>Text2Realm,Dept of AIML</a:t>
            </a:r>
          </a:p>
        </p:txBody>
      </p:sp>
      <p:sp>
        <p:nvSpPr>
          <p:cNvPr id="5" name="Slide Number Placeholder 4">
            <a:extLst>
              <a:ext uri="{FF2B5EF4-FFF2-40B4-BE49-F238E27FC236}">
                <a16:creationId xmlns:a16="http://schemas.microsoft.com/office/drawing/2014/main" id="{4C36AD98-D638-B1CE-E575-AAFD0A7FB91E}"/>
              </a:ext>
            </a:extLst>
          </p:cNvPr>
          <p:cNvSpPr>
            <a:spLocks noGrp="1"/>
          </p:cNvSpPr>
          <p:nvPr>
            <p:ph type="sldNum" sz="quarter" idx="12"/>
          </p:nvPr>
        </p:nvSpPr>
        <p:spPr/>
        <p:txBody>
          <a:bodyPr/>
          <a:lstStyle/>
          <a:p>
            <a:fld id="{4F8E779C-ED91-4F95-87E7-CD40D1061BB2}" type="slidenum">
              <a:rPr lang="en-IN" smtClean="0"/>
              <a:t>‹#›</a:t>
            </a:fld>
            <a:endParaRPr lang="en-IN" dirty="0"/>
          </a:p>
        </p:txBody>
      </p:sp>
    </p:spTree>
    <p:extLst>
      <p:ext uri="{BB962C8B-B14F-4D97-AF65-F5344CB8AC3E}">
        <p14:creationId xmlns:p14="http://schemas.microsoft.com/office/powerpoint/2010/main" val="38093362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B0B8F4-98A5-9C7C-E8F8-00C7757E98AA}"/>
              </a:ext>
            </a:extLst>
          </p:cNvPr>
          <p:cNvSpPr>
            <a:spLocks noGrp="1"/>
          </p:cNvSpPr>
          <p:nvPr>
            <p:ph type="dt" sz="half" idx="10"/>
          </p:nvPr>
        </p:nvSpPr>
        <p:spPr/>
        <p:txBody>
          <a:bodyPr/>
          <a:lstStyle/>
          <a:p>
            <a:fld id="{20E2518E-1342-4FB7-9669-538D6F42B6DC}" type="datetime1">
              <a:rPr lang="en-US" smtClean="0"/>
              <a:t>4/29/2026</a:t>
            </a:fld>
            <a:endParaRPr lang="en-IN" dirty="0"/>
          </a:p>
        </p:txBody>
      </p:sp>
      <p:sp>
        <p:nvSpPr>
          <p:cNvPr id="3" name="Footer Placeholder 2">
            <a:extLst>
              <a:ext uri="{FF2B5EF4-FFF2-40B4-BE49-F238E27FC236}">
                <a16:creationId xmlns:a16="http://schemas.microsoft.com/office/drawing/2014/main" id="{7FB4FCA9-2BDD-5BD4-632C-E7335BB73B6F}"/>
              </a:ext>
            </a:extLst>
          </p:cNvPr>
          <p:cNvSpPr>
            <a:spLocks noGrp="1"/>
          </p:cNvSpPr>
          <p:nvPr>
            <p:ph type="ftr" sz="quarter" idx="11"/>
          </p:nvPr>
        </p:nvSpPr>
        <p:spPr/>
        <p:txBody>
          <a:bodyPr/>
          <a:lstStyle/>
          <a:p>
            <a:r>
              <a:rPr lang="en-IN" dirty="0"/>
              <a:t>Text2Realm,Dept of AIML</a:t>
            </a:r>
          </a:p>
        </p:txBody>
      </p:sp>
      <p:sp>
        <p:nvSpPr>
          <p:cNvPr id="4" name="Slide Number Placeholder 3">
            <a:extLst>
              <a:ext uri="{FF2B5EF4-FFF2-40B4-BE49-F238E27FC236}">
                <a16:creationId xmlns:a16="http://schemas.microsoft.com/office/drawing/2014/main" id="{ED921EBB-7F7A-E3F0-0518-6959DBA83224}"/>
              </a:ext>
            </a:extLst>
          </p:cNvPr>
          <p:cNvSpPr>
            <a:spLocks noGrp="1"/>
          </p:cNvSpPr>
          <p:nvPr>
            <p:ph type="sldNum" sz="quarter" idx="12"/>
          </p:nvPr>
        </p:nvSpPr>
        <p:spPr/>
        <p:txBody>
          <a:bodyPr/>
          <a:lstStyle/>
          <a:p>
            <a:fld id="{4F8E779C-ED91-4F95-87E7-CD40D1061BB2}" type="slidenum">
              <a:rPr lang="en-IN" smtClean="0"/>
              <a:t>‹#›</a:t>
            </a:fld>
            <a:endParaRPr lang="en-IN" dirty="0"/>
          </a:p>
        </p:txBody>
      </p:sp>
    </p:spTree>
    <p:extLst>
      <p:ext uri="{BB962C8B-B14F-4D97-AF65-F5344CB8AC3E}">
        <p14:creationId xmlns:p14="http://schemas.microsoft.com/office/powerpoint/2010/main" val="1516110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397A6-60DC-70A7-596B-68611134E4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97CAA71-D8A4-60E6-F322-FD405C421D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E9CA545-C5BD-4591-0E57-D7F85B92FA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A60707-0165-F663-C4A9-8386A8C5512F}"/>
              </a:ext>
            </a:extLst>
          </p:cNvPr>
          <p:cNvSpPr>
            <a:spLocks noGrp="1"/>
          </p:cNvSpPr>
          <p:nvPr>
            <p:ph type="dt" sz="half" idx="10"/>
          </p:nvPr>
        </p:nvSpPr>
        <p:spPr/>
        <p:txBody>
          <a:bodyPr/>
          <a:lstStyle/>
          <a:p>
            <a:fld id="{2E141872-5F44-4CC7-81E8-088AB15C19B6}" type="datetime1">
              <a:rPr lang="en-US" smtClean="0"/>
              <a:t>4/29/2026</a:t>
            </a:fld>
            <a:endParaRPr lang="en-IN" dirty="0"/>
          </a:p>
        </p:txBody>
      </p:sp>
      <p:sp>
        <p:nvSpPr>
          <p:cNvPr id="6" name="Footer Placeholder 5">
            <a:extLst>
              <a:ext uri="{FF2B5EF4-FFF2-40B4-BE49-F238E27FC236}">
                <a16:creationId xmlns:a16="http://schemas.microsoft.com/office/drawing/2014/main" id="{F40546B2-E215-ACB3-F561-EE092748623A}"/>
              </a:ext>
            </a:extLst>
          </p:cNvPr>
          <p:cNvSpPr>
            <a:spLocks noGrp="1"/>
          </p:cNvSpPr>
          <p:nvPr>
            <p:ph type="ftr" sz="quarter" idx="11"/>
          </p:nvPr>
        </p:nvSpPr>
        <p:spPr/>
        <p:txBody>
          <a:bodyPr/>
          <a:lstStyle/>
          <a:p>
            <a:r>
              <a:rPr lang="en-IN" dirty="0"/>
              <a:t>Text2Realm,Dept of AIML</a:t>
            </a:r>
          </a:p>
        </p:txBody>
      </p:sp>
      <p:sp>
        <p:nvSpPr>
          <p:cNvPr id="7" name="Slide Number Placeholder 6">
            <a:extLst>
              <a:ext uri="{FF2B5EF4-FFF2-40B4-BE49-F238E27FC236}">
                <a16:creationId xmlns:a16="http://schemas.microsoft.com/office/drawing/2014/main" id="{63758039-5C9A-CEC9-87AB-79F39AE69917}"/>
              </a:ext>
            </a:extLst>
          </p:cNvPr>
          <p:cNvSpPr>
            <a:spLocks noGrp="1"/>
          </p:cNvSpPr>
          <p:nvPr>
            <p:ph type="sldNum" sz="quarter" idx="12"/>
          </p:nvPr>
        </p:nvSpPr>
        <p:spPr/>
        <p:txBody>
          <a:bodyPr/>
          <a:lstStyle/>
          <a:p>
            <a:fld id="{4F8E779C-ED91-4F95-87E7-CD40D1061BB2}" type="slidenum">
              <a:rPr lang="en-IN" smtClean="0"/>
              <a:t>‹#›</a:t>
            </a:fld>
            <a:endParaRPr lang="en-IN" dirty="0"/>
          </a:p>
        </p:txBody>
      </p:sp>
    </p:spTree>
    <p:extLst>
      <p:ext uri="{BB962C8B-B14F-4D97-AF65-F5344CB8AC3E}">
        <p14:creationId xmlns:p14="http://schemas.microsoft.com/office/powerpoint/2010/main" val="23750712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EBEC5-6A9A-4B38-B78A-9078EA6A22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376D8F8-9D36-6372-EFBF-44CAF862C7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CD71706C-8487-CF6B-A515-CA3AC93C1C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CD35E-0703-F5D7-F915-14CD66B53825}"/>
              </a:ext>
            </a:extLst>
          </p:cNvPr>
          <p:cNvSpPr>
            <a:spLocks noGrp="1"/>
          </p:cNvSpPr>
          <p:nvPr>
            <p:ph type="dt" sz="half" idx="10"/>
          </p:nvPr>
        </p:nvSpPr>
        <p:spPr/>
        <p:txBody>
          <a:bodyPr/>
          <a:lstStyle/>
          <a:p>
            <a:fld id="{5DF7C555-E1B4-4261-847A-A9B999ED7BB8}" type="datetime1">
              <a:rPr lang="en-US" smtClean="0"/>
              <a:t>4/29/2026</a:t>
            </a:fld>
            <a:endParaRPr lang="en-IN" dirty="0"/>
          </a:p>
        </p:txBody>
      </p:sp>
      <p:sp>
        <p:nvSpPr>
          <p:cNvPr id="6" name="Footer Placeholder 5">
            <a:extLst>
              <a:ext uri="{FF2B5EF4-FFF2-40B4-BE49-F238E27FC236}">
                <a16:creationId xmlns:a16="http://schemas.microsoft.com/office/drawing/2014/main" id="{B3652F1C-01A9-8235-E7BF-09894A032927}"/>
              </a:ext>
            </a:extLst>
          </p:cNvPr>
          <p:cNvSpPr>
            <a:spLocks noGrp="1"/>
          </p:cNvSpPr>
          <p:nvPr>
            <p:ph type="ftr" sz="quarter" idx="11"/>
          </p:nvPr>
        </p:nvSpPr>
        <p:spPr/>
        <p:txBody>
          <a:bodyPr/>
          <a:lstStyle/>
          <a:p>
            <a:r>
              <a:rPr lang="en-IN" dirty="0"/>
              <a:t>Text2Realm,Dept of AIML</a:t>
            </a:r>
          </a:p>
        </p:txBody>
      </p:sp>
      <p:sp>
        <p:nvSpPr>
          <p:cNvPr id="7" name="Slide Number Placeholder 6">
            <a:extLst>
              <a:ext uri="{FF2B5EF4-FFF2-40B4-BE49-F238E27FC236}">
                <a16:creationId xmlns:a16="http://schemas.microsoft.com/office/drawing/2014/main" id="{3B0FD459-27B1-B675-5D54-EC4BCCCECD2A}"/>
              </a:ext>
            </a:extLst>
          </p:cNvPr>
          <p:cNvSpPr>
            <a:spLocks noGrp="1"/>
          </p:cNvSpPr>
          <p:nvPr>
            <p:ph type="sldNum" sz="quarter" idx="12"/>
          </p:nvPr>
        </p:nvSpPr>
        <p:spPr/>
        <p:txBody>
          <a:bodyPr/>
          <a:lstStyle/>
          <a:p>
            <a:fld id="{4F8E779C-ED91-4F95-87E7-CD40D1061BB2}" type="slidenum">
              <a:rPr lang="en-IN" smtClean="0"/>
              <a:t>‹#›</a:t>
            </a:fld>
            <a:endParaRPr lang="en-IN" dirty="0"/>
          </a:p>
        </p:txBody>
      </p:sp>
    </p:spTree>
    <p:extLst>
      <p:ext uri="{BB962C8B-B14F-4D97-AF65-F5344CB8AC3E}">
        <p14:creationId xmlns:p14="http://schemas.microsoft.com/office/powerpoint/2010/main" val="23912564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90323-D6C3-600F-8EA9-06FC0591591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E12520-563E-16C8-8578-54C3462D75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546A2B-9A10-FCA2-8E02-FFF1F1D9D451}"/>
              </a:ext>
            </a:extLst>
          </p:cNvPr>
          <p:cNvSpPr>
            <a:spLocks noGrp="1"/>
          </p:cNvSpPr>
          <p:nvPr>
            <p:ph type="dt" sz="half" idx="10"/>
          </p:nvPr>
        </p:nvSpPr>
        <p:spPr/>
        <p:txBody>
          <a:bodyPr/>
          <a:lstStyle/>
          <a:p>
            <a:fld id="{F933B236-C7D3-4A2D-826B-481838E20D3E}" type="datetime1">
              <a:rPr lang="en-US" smtClean="0"/>
              <a:t>4/29/2026</a:t>
            </a:fld>
            <a:endParaRPr lang="en-IN" dirty="0"/>
          </a:p>
        </p:txBody>
      </p:sp>
      <p:sp>
        <p:nvSpPr>
          <p:cNvPr id="5" name="Footer Placeholder 4">
            <a:extLst>
              <a:ext uri="{FF2B5EF4-FFF2-40B4-BE49-F238E27FC236}">
                <a16:creationId xmlns:a16="http://schemas.microsoft.com/office/drawing/2014/main" id="{115D6F5D-F6CA-90A3-DEBC-232F2AAD7D33}"/>
              </a:ext>
            </a:extLst>
          </p:cNvPr>
          <p:cNvSpPr>
            <a:spLocks noGrp="1"/>
          </p:cNvSpPr>
          <p:nvPr>
            <p:ph type="ftr" sz="quarter" idx="11"/>
          </p:nvPr>
        </p:nvSpPr>
        <p:spPr/>
        <p:txBody>
          <a:bodyPr/>
          <a:lstStyle/>
          <a:p>
            <a:r>
              <a:rPr lang="en-IN" dirty="0"/>
              <a:t>Text2Realm,Dept of AIML</a:t>
            </a:r>
          </a:p>
        </p:txBody>
      </p:sp>
      <p:sp>
        <p:nvSpPr>
          <p:cNvPr id="6" name="Slide Number Placeholder 5">
            <a:extLst>
              <a:ext uri="{FF2B5EF4-FFF2-40B4-BE49-F238E27FC236}">
                <a16:creationId xmlns:a16="http://schemas.microsoft.com/office/drawing/2014/main" id="{FB162897-834A-6B23-4C6D-0955796B3560}"/>
              </a:ext>
            </a:extLst>
          </p:cNvPr>
          <p:cNvSpPr>
            <a:spLocks noGrp="1"/>
          </p:cNvSpPr>
          <p:nvPr>
            <p:ph type="sldNum" sz="quarter" idx="12"/>
          </p:nvPr>
        </p:nvSpPr>
        <p:spPr/>
        <p:txBody>
          <a:bodyPr/>
          <a:lstStyle/>
          <a:p>
            <a:fld id="{4F8E779C-ED91-4F95-87E7-CD40D1061BB2}" type="slidenum">
              <a:rPr lang="en-IN" smtClean="0"/>
              <a:t>‹#›</a:t>
            </a:fld>
            <a:endParaRPr lang="en-IN" dirty="0"/>
          </a:p>
        </p:txBody>
      </p:sp>
    </p:spTree>
    <p:extLst>
      <p:ext uri="{BB962C8B-B14F-4D97-AF65-F5344CB8AC3E}">
        <p14:creationId xmlns:p14="http://schemas.microsoft.com/office/powerpoint/2010/main" val="3227394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5FAD9D-23EF-719D-AD5A-ABDA17C0528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9BF45DC-5EEB-ABFA-3207-B1FEF43CE79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7AD92D-38D5-4BAB-9A8C-151A611B75D3}"/>
              </a:ext>
            </a:extLst>
          </p:cNvPr>
          <p:cNvSpPr>
            <a:spLocks noGrp="1"/>
          </p:cNvSpPr>
          <p:nvPr>
            <p:ph type="dt" sz="half" idx="10"/>
          </p:nvPr>
        </p:nvSpPr>
        <p:spPr/>
        <p:txBody>
          <a:bodyPr/>
          <a:lstStyle/>
          <a:p>
            <a:fld id="{7EB3E3A4-8E10-469D-9F70-496F1F95B9E2}" type="datetime1">
              <a:rPr lang="en-US" smtClean="0"/>
              <a:t>4/29/2026</a:t>
            </a:fld>
            <a:endParaRPr lang="en-IN" dirty="0"/>
          </a:p>
        </p:txBody>
      </p:sp>
      <p:sp>
        <p:nvSpPr>
          <p:cNvPr id="5" name="Footer Placeholder 4">
            <a:extLst>
              <a:ext uri="{FF2B5EF4-FFF2-40B4-BE49-F238E27FC236}">
                <a16:creationId xmlns:a16="http://schemas.microsoft.com/office/drawing/2014/main" id="{7EDE2C69-EF51-D16F-C760-9418BD505BE1}"/>
              </a:ext>
            </a:extLst>
          </p:cNvPr>
          <p:cNvSpPr>
            <a:spLocks noGrp="1"/>
          </p:cNvSpPr>
          <p:nvPr>
            <p:ph type="ftr" sz="quarter" idx="11"/>
          </p:nvPr>
        </p:nvSpPr>
        <p:spPr/>
        <p:txBody>
          <a:bodyPr/>
          <a:lstStyle/>
          <a:p>
            <a:r>
              <a:rPr lang="en-IN" dirty="0"/>
              <a:t>Text2Realm,Dept of AIML</a:t>
            </a:r>
          </a:p>
        </p:txBody>
      </p:sp>
      <p:sp>
        <p:nvSpPr>
          <p:cNvPr id="6" name="Slide Number Placeholder 5">
            <a:extLst>
              <a:ext uri="{FF2B5EF4-FFF2-40B4-BE49-F238E27FC236}">
                <a16:creationId xmlns:a16="http://schemas.microsoft.com/office/drawing/2014/main" id="{B4B01944-9CEB-0CB5-5D1C-22F638AC200B}"/>
              </a:ext>
            </a:extLst>
          </p:cNvPr>
          <p:cNvSpPr>
            <a:spLocks noGrp="1"/>
          </p:cNvSpPr>
          <p:nvPr>
            <p:ph type="sldNum" sz="quarter" idx="12"/>
          </p:nvPr>
        </p:nvSpPr>
        <p:spPr/>
        <p:txBody>
          <a:bodyPr/>
          <a:lstStyle/>
          <a:p>
            <a:fld id="{4F8E779C-ED91-4F95-87E7-CD40D1061BB2}" type="slidenum">
              <a:rPr lang="en-IN" smtClean="0"/>
              <a:t>‹#›</a:t>
            </a:fld>
            <a:endParaRPr lang="en-IN" dirty="0"/>
          </a:p>
        </p:txBody>
      </p:sp>
    </p:spTree>
    <p:extLst>
      <p:ext uri="{BB962C8B-B14F-4D97-AF65-F5344CB8AC3E}">
        <p14:creationId xmlns:p14="http://schemas.microsoft.com/office/powerpoint/2010/main" val="819991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EA5523-10F8-9DB2-75BA-A8608D5625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4BCCB32-7291-207A-E4DC-137394B458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EAC7D0-61A5-E832-09BA-CB30C3D669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342C42-9620-4857-83CC-EFC2F32603AF}" type="datetime1">
              <a:rPr lang="en-US" smtClean="0"/>
              <a:t>4/29/2026</a:t>
            </a:fld>
            <a:endParaRPr lang="en-IN" dirty="0"/>
          </a:p>
        </p:txBody>
      </p:sp>
      <p:sp>
        <p:nvSpPr>
          <p:cNvPr id="5" name="Footer Placeholder 4">
            <a:extLst>
              <a:ext uri="{FF2B5EF4-FFF2-40B4-BE49-F238E27FC236}">
                <a16:creationId xmlns:a16="http://schemas.microsoft.com/office/drawing/2014/main" id="{FA189EA6-4D5E-256D-04D5-C1274A602F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t>Text2Realm,Dept of AIML</a:t>
            </a:r>
          </a:p>
        </p:txBody>
      </p:sp>
      <p:sp>
        <p:nvSpPr>
          <p:cNvPr id="6" name="Slide Number Placeholder 5">
            <a:extLst>
              <a:ext uri="{FF2B5EF4-FFF2-40B4-BE49-F238E27FC236}">
                <a16:creationId xmlns:a16="http://schemas.microsoft.com/office/drawing/2014/main" id="{BB146994-90D0-3385-9FCC-6E3DDC11C3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8E779C-ED91-4F95-87E7-CD40D1061BB2}" type="slidenum">
              <a:rPr lang="en-IN" smtClean="0"/>
              <a:t>‹#›</a:t>
            </a:fld>
            <a:endParaRPr lang="en-IN" dirty="0"/>
          </a:p>
        </p:txBody>
      </p:sp>
    </p:spTree>
    <p:extLst>
      <p:ext uri="{BB962C8B-B14F-4D97-AF65-F5344CB8AC3E}">
        <p14:creationId xmlns:p14="http://schemas.microsoft.com/office/powerpoint/2010/main" val="6643063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47987" y="419399"/>
            <a:ext cx="2199659" cy="1108551"/>
            <a:chOff x="0" y="0"/>
            <a:chExt cx="4399318" cy="2217102"/>
          </a:xfrm>
        </p:grpSpPr>
        <p:sp>
          <p:nvSpPr>
            <p:cNvPr id="6" name="Freeform 6"/>
            <p:cNvSpPr/>
            <p:nvPr/>
          </p:nvSpPr>
          <p:spPr>
            <a:xfrm>
              <a:off x="0" y="0"/>
              <a:ext cx="4399280" cy="2217039"/>
            </a:xfrm>
            <a:custGeom>
              <a:avLst/>
              <a:gdLst/>
              <a:ahLst/>
              <a:cxnLst/>
              <a:rect l="l" t="t" r="r" b="b"/>
              <a:pathLst>
                <a:path w="4399280" h="2217039">
                  <a:moveTo>
                    <a:pt x="0" y="0"/>
                  </a:moveTo>
                  <a:lnTo>
                    <a:pt x="4399280" y="0"/>
                  </a:lnTo>
                  <a:lnTo>
                    <a:pt x="4399280" y="2217039"/>
                  </a:lnTo>
                  <a:lnTo>
                    <a:pt x="0" y="2217039"/>
                  </a:lnTo>
                  <a:lnTo>
                    <a:pt x="0" y="0"/>
                  </a:lnTo>
                  <a:close/>
                </a:path>
              </a:pathLst>
            </a:custGeom>
            <a:blipFill>
              <a:blip r:embed="rId2"/>
              <a:stretch>
                <a:fillRect l="-3456" r="-3457" b="-2"/>
              </a:stretch>
            </a:blipFill>
          </p:spPr>
          <p:txBody>
            <a:bodyPr/>
            <a:lstStyle/>
            <a:p>
              <a:endParaRPr lang="en-IN"/>
            </a:p>
          </p:txBody>
        </p:sp>
      </p:grpSp>
      <p:sp>
        <p:nvSpPr>
          <p:cNvPr id="7" name="TextBox 7"/>
          <p:cNvSpPr txBox="1"/>
          <p:nvPr/>
        </p:nvSpPr>
        <p:spPr>
          <a:xfrm>
            <a:off x="324465" y="2307470"/>
            <a:ext cx="11513573" cy="512704"/>
          </a:xfrm>
          <a:prstGeom prst="rect">
            <a:avLst/>
          </a:prstGeom>
        </p:spPr>
        <p:txBody>
          <a:bodyPr wrap="square" lIns="0" tIns="0" rIns="0" bIns="0" rtlCol="0" anchor="t">
            <a:spAutoFit/>
          </a:bodyPr>
          <a:lstStyle/>
          <a:p>
            <a:pPr algn="ctr">
              <a:lnSpc>
                <a:spcPts val="4320"/>
              </a:lnSpc>
            </a:pPr>
            <a:r>
              <a:rPr lang="en-IN" sz="3000" dirty="0"/>
              <a:t>“</a:t>
            </a:r>
            <a:r>
              <a:rPr lang="en-US" sz="3000" dirty="0"/>
              <a:t>Sentiment Analysis of Text Reviews using NLP and Machine Learning</a:t>
            </a:r>
            <a:r>
              <a:rPr lang="en-IN" sz="3000" dirty="0"/>
              <a:t>”</a:t>
            </a:r>
            <a:endParaRPr lang="en-US" sz="3000" b="1"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8" name="TextBox 8"/>
          <p:cNvSpPr txBox="1"/>
          <p:nvPr/>
        </p:nvSpPr>
        <p:spPr>
          <a:xfrm>
            <a:off x="1004671" y="2789504"/>
            <a:ext cx="10060724" cy="2240613"/>
          </a:xfrm>
          <a:prstGeom prst="rect">
            <a:avLst/>
          </a:prstGeom>
        </p:spPr>
        <p:txBody>
          <a:bodyPr lIns="0" tIns="0" rIns="0" bIns="0" rtlCol="0" anchor="t">
            <a:spAutoFit/>
          </a:bodyPr>
          <a:lstStyle/>
          <a:p>
            <a:pPr algn="ctr">
              <a:lnSpc>
                <a:spcPts val="2160"/>
              </a:lnSpc>
            </a:pPr>
            <a:endParaRPr lang="en-IN" sz="1200" dirty="0"/>
          </a:p>
          <a:p>
            <a:pPr algn="ctr">
              <a:lnSpc>
                <a:spcPts val="2160"/>
              </a:lnSpc>
            </a:pPr>
            <a:r>
              <a:rPr lang="en-IN" sz="1867" b="1" dirty="0">
                <a:solidFill>
                  <a:srgbClr val="000000"/>
                </a:solidFill>
                <a:latin typeface="Times New Roman Bold"/>
                <a:ea typeface="Times New Roman Bold"/>
                <a:cs typeface="Times New Roman Bold"/>
                <a:sym typeface="Times New Roman Bold"/>
              </a:rPr>
              <a:t>Prese</a:t>
            </a:r>
            <a:r>
              <a:rPr lang="en-US" sz="1867" b="1" dirty="0">
                <a:solidFill>
                  <a:srgbClr val="000000"/>
                </a:solidFill>
                <a:latin typeface="Times New Roman Bold"/>
                <a:ea typeface="Times New Roman Bold"/>
                <a:cs typeface="Times New Roman Bold"/>
                <a:sym typeface="Times New Roman Bold"/>
              </a:rPr>
              <a:t>nt</a:t>
            </a:r>
            <a:r>
              <a:rPr lang="en-IN" sz="1867" b="1" dirty="0">
                <a:solidFill>
                  <a:srgbClr val="000000"/>
                </a:solidFill>
                <a:latin typeface="Times New Roman Bold"/>
                <a:ea typeface="Times New Roman Bold"/>
                <a:cs typeface="Times New Roman Bold"/>
                <a:sym typeface="Times New Roman Bold"/>
              </a:rPr>
              <a:t>ed by</a:t>
            </a:r>
          </a:p>
          <a:p>
            <a:pPr algn="ctr">
              <a:lnSpc>
                <a:spcPts val="2160"/>
              </a:lnSpc>
            </a:pPr>
            <a:endParaRPr lang="en-US" b="1" u="sng" dirty="0">
              <a:solidFill>
                <a:srgbClr val="000000"/>
              </a:solidFill>
              <a:latin typeface="Times New Roman Bold"/>
              <a:ea typeface="Times New Roman Bold"/>
              <a:cs typeface="Times New Roman Bold"/>
              <a:sym typeface="Times New Roman Bold"/>
            </a:endParaRPr>
          </a:p>
          <a:p>
            <a:pPr algn="ctr">
              <a:lnSpc>
                <a:spcPts val="2160"/>
              </a:lnSpc>
            </a:pPr>
            <a:r>
              <a:rPr lang="en-US" dirty="0">
                <a:solidFill>
                  <a:srgbClr val="000000"/>
                </a:solidFill>
                <a:latin typeface="Times New Roman"/>
                <a:ea typeface="Times New Roman"/>
                <a:cs typeface="Times New Roman"/>
                <a:sym typeface="Times New Roman"/>
              </a:rPr>
              <a:t>SHAIK MOHAMMED NAWAZ		3BR23AI144</a:t>
            </a:r>
          </a:p>
          <a:p>
            <a:pPr algn="ctr">
              <a:lnSpc>
                <a:spcPts val="2160"/>
              </a:lnSpc>
            </a:pPr>
            <a:r>
              <a:rPr lang="en-US" dirty="0">
                <a:solidFill>
                  <a:srgbClr val="000000"/>
                </a:solidFill>
                <a:latin typeface="Times New Roman"/>
                <a:ea typeface="Times New Roman"/>
                <a:cs typeface="Times New Roman"/>
                <a:sym typeface="Times New Roman"/>
              </a:rPr>
              <a:t>SHAIK REHAN				3BR23AI145</a:t>
            </a:r>
          </a:p>
          <a:p>
            <a:pPr algn="ctr">
              <a:lnSpc>
                <a:spcPts val="2160"/>
              </a:lnSpc>
            </a:pPr>
            <a:r>
              <a:rPr lang="en-US" dirty="0">
                <a:solidFill>
                  <a:srgbClr val="000000"/>
                </a:solidFill>
                <a:latin typeface="Times New Roman"/>
                <a:ea typeface="Times New Roman"/>
                <a:cs typeface="Times New Roman"/>
                <a:sym typeface="Times New Roman"/>
              </a:rPr>
              <a:t>SYED ABDUL NAJEEB			3BR23AI160</a:t>
            </a:r>
          </a:p>
          <a:p>
            <a:pPr algn="ctr">
              <a:lnSpc>
                <a:spcPts val="2160"/>
              </a:lnSpc>
            </a:pPr>
            <a:r>
              <a:rPr lang="en-US" dirty="0">
                <a:solidFill>
                  <a:srgbClr val="000000"/>
                </a:solidFill>
                <a:latin typeface="Times New Roman"/>
                <a:ea typeface="Times New Roman"/>
                <a:cs typeface="Times New Roman"/>
                <a:sym typeface="Times New Roman"/>
              </a:rPr>
              <a:t>K ISMAIL ZABIULLA			3BR24AI403</a:t>
            </a:r>
          </a:p>
          <a:p>
            <a:pPr algn="ctr">
              <a:lnSpc>
                <a:spcPts val="2160"/>
              </a:lnSpc>
            </a:pPr>
            <a:r>
              <a:rPr lang="en-US" dirty="0">
                <a:solidFill>
                  <a:srgbClr val="000000"/>
                </a:solidFill>
                <a:latin typeface="Times New Roman"/>
                <a:ea typeface="Times New Roman"/>
                <a:cs typeface="Times New Roman"/>
                <a:sym typeface="Times New Roman"/>
              </a:rPr>
              <a:t>	     	                  </a:t>
            </a:r>
          </a:p>
        </p:txBody>
      </p:sp>
      <p:sp>
        <p:nvSpPr>
          <p:cNvPr id="9" name="TextBox 9"/>
          <p:cNvSpPr txBox="1"/>
          <p:nvPr/>
        </p:nvSpPr>
        <p:spPr>
          <a:xfrm>
            <a:off x="3438125" y="1628020"/>
            <a:ext cx="4844567" cy="615553"/>
          </a:xfrm>
          <a:prstGeom prst="rect">
            <a:avLst/>
          </a:prstGeom>
        </p:spPr>
        <p:txBody>
          <a:bodyPr lIns="0" tIns="0" rIns="0" bIns="0" rtlCol="0" anchor="t">
            <a:spAutoFit/>
          </a:bodyPr>
          <a:lstStyle/>
          <a:p>
            <a:pPr algn="ctr">
              <a:lnSpc>
                <a:spcPts val="2400"/>
              </a:lnSpc>
            </a:pPr>
            <a:r>
              <a:rPr lang="en-US" sz="2000" b="1" dirty="0">
                <a:solidFill>
                  <a:srgbClr val="0070C0"/>
                </a:solidFill>
                <a:latin typeface="Arial Bold"/>
                <a:ea typeface="Arial Bold"/>
                <a:cs typeface="Arial Bold"/>
                <a:sym typeface="Arial Bold"/>
              </a:rPr>
              <a:t>  </a:t>
            </a:r>
            <a:r>
              <a:rPr lang="en-US" sz="2000" b="1" dirty="0" err="1">
                <a:solidFill>
                  <a:srgbClr val="0070C0"/>
                </a:solidFill>
                <a:latin typeface="Arial Bold"/>
                <a:ea typeface="Arial Bold"/>
                <a:cs typeface="Arial Bold"/>
                <a:sym typeface="Arial Bold"/>
              </a:rPr>
              <a:t>Crepston</a:t>
            </a:r>
            <a:r>
              <a:rPr lang="en-US" sz="2000" b="1" dirty="0">
                <a:solidFill>
                  <a:srgbClr val="0070C0"/>
                </a:solidFill>
                <a:latin typeface="Arial Bold"/>
                <a:ea typeface="Arial Bold"/>
                <a:cs typeface="Arial Bold"/>
                <a:sym typeface="Arial Bold"/>
              </a:rPr>
              <a:t> Project Presentation </a:t>
            </a:r>
          </a:p>
          <a:p>
            <a:pPr algn="ctr">
              <a:lnSpc>
                <a:spcPts val="2400"/>
              </a:lnSpc>
            </a:pPr>
            <a:r>
              <a:rPr lang="en-US" sz="2000" b="1" dirty="0">
                <a:solidFill>
                  <a:srgbClr val="0070C0"/>
                </a:solidFill>
                <a:latin typeface="Arial Bold"/>
                <a:ea typeface="Arial Bold"/>
                <a:cs typeface="Arial Bold"/>
                <a:sym typeface="Arial Bold"/>
              </a:rPr>
              <a:t>on</a:t>
            </a:r>
          </a:p>
        </p:txBody>
      </p:sp>
      <p:sp>
        <p:nvSpPr>
          <p:cNvPr id="11" name="TextBox 11"/>
          <p:cNvSpPr txBox="1"/>
          <p:nvPr/>
        </p:nvSpPr>
        <p:spPr>
          <a:xfrm>
            <a:off x="4925307" y="4883404"/>
            <a:ext cx="2640076" cy="265714"/>
          </a:xfrm>
          <a:prstGeom prst="rect">
            <a:avLst/>
          </a:prstGeom>
        </p:spPr>
        <p:txBody>
          <a:bodyPr lIns="0" tIns="0" rIns="0" bIns="0" rtlCol="0" anchor="t">
            <a:spAutoFit/>
          </a:bodyPr>
          <a:lstStyle/>
          <a:p>
            <a:pPr>
              <a:lnSpc>
                <a:spcPts val="2160"/>
              </a:lnSpc>
            </a:pPr>
            <a:r>
              <a:rPr lang="en-US" b="1" u="sng" dirty="0">
                <a:solidFill>
                  <a:srgbClr val="000000"/>
                </a:solidFill>
                <a:latin typeface="Times New Roman Bold"/>
                <a:ea typeface="Times New Roman Bold"/>
                <a:cs typeface="Times New Roman Bold"/>
                <a:sym typeface="Times New Roman Bold"/>
              </a:rPr>
              <a:t>Under the Guidance of </a:t>
            </a:r>
          </a:p>
        </p:txBody>
      </p:sp>
      <p:sp>
        <p:nvSpPr>
          <p:cNvPr id="12" name="TextBox 12"/>
          <p:cNvSpPr txBox="1"/>
          <p:nvPr/>
        </p:nvSpPr>
        <p:spPr>
          <a:xfrm>
            <a:off x="1088987" y="5270005"/>
            <a:ext cx="3034125" cy="823944"/>
          </a:xfrm>
          <a:prstGeom prst="rect">
            <a:avLst/>
          </a:prstGeom>
        </p:spPr>
        <p:txBody>
          <a:bodyPr lIns="0" tIns="0" rIns="0" bIns="0" rtlCol="0" anchor="t">
            <a:spAutoFit/>
          </a:bodyPr>
          <a:lstStyle/>
          <a:p>
            <a:pPr algn="ctr">
              <a:lnSpc>
                <a:spcPts val="2160"/>
              </a:lnSpc>
            </a:pPr>
            <a:r>
              <a:rPr lang="en-US" sz="1600" dirty="0">
                <a:solidFill>
                  <a:srgbClr val="000000"/>
                </a:solidFill>
                <a:latin typeface="Times New Roman"/>
                <a:ea typeface="Times New Roman"/>
                <a:cs typeface="Times New Roman"/>
                <a:sym typeface="Times New Roman"/>
              </a:rPr>
              <a:t>Mr. May Raju</a:t>
            </a:r>
          </a:p>
          <a:p>
            <a:pPr algn="ctr">
              <a:lnSpc>
                <a:spcPts val="2160"/>
              </a:lnSpc>
            </a:pPr>
            <a:r>
              <a:rPr lang="en-US" sz="1600" dirty="0">
                <a:solidFill>
                  <a:srgbClr val="000000"/>
                </a:solidFill>
                <a:latin typeface="Times New Roman"/>
                <a:ea typeface="Times New Roman"/>
                <a:cs typeface="Times New Roman"/>
                <a:sym typeface="Times New Roman"/>
              </a:rPr>
              <a:t>Assistant Professor</a:t>
            </a:r>
          </a:p>
          <a:p>
            <a:pPr algn="ctr">
              <a:lnSpc>
                <a:spcPts val="2160"/>
              </a:lnSpc>
            </a:pPr>
            <a:r>
              <a:rPr lang="en-US" sz="1600" dirty="0">
                <a:solidFill>
                  <a:srgbClr val="000000"/>
                </a:solidFill>
                <a:latin typeface="Times New Roman"/>
                <a:ea typeface="Times New Roman"/>
                <a:cs typeface="Times New Roman"/>
                <a:sym typeface="Times New Roman"/>
              </a:rPr>
              <a:t>Dept. of AIML</a:t>
            </a:r>
          </a:p>
        </p:txBody>
      </p:sp>
      <p:sp>
        <p:nvSpPr>
          <p:cNvPr id="13" name="TextBox 13"/>
          <p:cNvSpPr txBox="1"/>
          <p:nvPr/>
        </p:nvSpPr>
        <p:spPr>
          <a:xfrm>
            <a:off x="8226603" y="5252739"/>
            <a:ext cx="2953391" cy="823944"/>
          </a:xfrm>
          <a:prstGeom prst="rect">
            <a:avLst/>
          </a:prstGeom>
        </p:spPr>
        <p:txBody>
          <a:bodyPr lIns="0" tIns="0" rIns="0" bIns="0" rtlCol="0" anchor="t">
            <a:spAutoFit/>
          </a:bodyPr>
          <a:lstStyle/>
          <a:p>
            <a:pPr algn="ctr">
              <a:lnSpc>
                <a:spcPts val="2160"/>
              </a:lnSpc>
            </a:pPr>
            <a:r>
              <a:rPr lang="en-US" sz="1600" dirty="0">
                <a:solidFill>
                  <a:srgbClr val="000000"/>
                </a:solidFill>
                <a:latin typeface="Times New Roman"/>
                <a:ea typeface="Times New Roman"/>
                <a:cs typeface="Times New Roman"/>
                <a:sym typeface="Times New Roman"/>
              </a:rPr>
              <a:t>Dr. B.M Vidyavathi</a:t>
            </a:r>
          </a:p>
          <a:p>
            <a:pPr algn="ctr">
              <a:lnSpc>
                <a:spcPts val="2160"/>
              </a:lnSpc>
            </a:pPr>
            <a:r>
              <a:rPr lang="en-US" sz="1600" dirty="0">
                <a:solidFill>
                  <a:srgbClr val="000000"/>
                </a:solidFill>
                <a:latin typeface="Times New Roman"/>
                <a:ea typeface="Times New Roman"/>
                <a:cs typeface="Times New Roman"/>
                <a:sym typeface="Times New Roman"/>
              </a:rPr>
              <a:t>Head of the Department</a:t>
            </a:r>
          </a:p>
          <a:p>
            <a:pPr algn="ctr">
              <a:lnSpc>
                <a:spcPts val="2160"/>
              </a:lnSpc>
            </a:pPr>
            <a:r>
              <a:rPr lang="en-US" sz="1600" dirty="0">
                <a:solidFill>
                  <a:srgbClr val="000000"/>
                </a:solidFill>
                <a:latin typeface="Times New Roman"/>
                <a:ea typeface="Times New Roman"/>
                <a:cs typeface="Times New Roman"/>
                <a:sym typeface="Times New Roman"/>
              </a:rPr>
              <a:t>Dept. of AIML</a:t>
            </a:r>
          </a:p>
        </p:txBody>
      </p:sp>
      <p:grpSp>
        <p:nvGrpSpPr>
          <p:cNvPr id="14" name="Group 14"/>
          <p:cNvGrpSpPr/>
          <p:nvPr/>
        </p:nvGrpSpPr>
        <p:grpSpPr>
          <a:xfrm>
            <a:off x="10080410" y="368471"/>
            <a:ext cx="1969979" cy="1333500"/>
            <a:chOff x="0" y="0"/>
            <a:chExt cx="3939959" cy="2667000"/>
          </a:xfrm>
        </p:grpSpPr>
        <p:sp>
          <p:nvSpPr>
            <p:cNvPr id="15" name="Freeform 15"/>
            <p:cNvSpPr/>
            <p:nvPr/>
          </p:nvSpPr>
          <p:spPr>
            <a:xfrm>
              <a:off x="0" y="0"/>
              <a:ext cx="3939921" cy="2667000"/>
            </a:xfrm>
            <a:custGeom>
              <a:avLst/>
              <a:gdLst/>
              <a:ahLst/>
              <a:cxnLst/>
              <a:rect l="l" t="t" r="r" b="b"/>
              <a:pathLst>
                <a:path w="3939921" h="2667000">
                  <a:moveTo>
                    <a:pt x="0" y="0"/>
                  </a:moveTo>
                  <a:lnTo>
                    <a:pt x="3939921" y="0"/>
                  </a:lnTo>
                  <a:lnTo>
                    <a:pt x="3939921" y="2667000"/>
                  </a:lnTo>
                  <a:lnTo>
                    <a:pt x="0" y="2667000"/>
                  </a:lnTo>
                  <a:lnTo>
                    <a:pt x="0" y="0"/>
                  </a:lnTo>
                  <a:close/>
                </a:path>
              </a:pathLst>
            </a:custGeom>
            <a:blipFill>
              <a:blip r:embed="rId3"/>
              <a:stretch>
                <a:fillRect l="-8003" t="-12389" r="-10788" b="-19058"/>
              </a:stretch>
            </a:blipFill>
          </p:spPr>
          <p:txBody>
            <a:bodyPr/>
            <a:lstStyle/>
            <a:p>
              <a:endParaRPr lang="en-IN" dirty="0"/>
            </a:p>
          </p:txBody>
        </p:sp>
      </p:grpSp>
      <p:sp>
        <p:nvSpPr>
          <p:cNvPr id="18" name="Freeform 18"/>
          <p:cNvSpPr/>
          <p:nvPr/>
        </p:nvSpPr>
        <p:spPr>
          <a:xfrm>
            <a:off x="220752" y="6451188"/>
            <a:ext cx="1150849" cy="365125"/>
          </a:xfrm>
          <a:custGeom>
            <a:avLst/>
            <a:gdLst/>
            <a:ahLst/>
            <a:cxnLst/>
            <a:rect l="l" t="t" r="r" b="b"/>
            <a:pathLst>
              <a:path w="5486400" h="730250">
                <a:moveTo>
                  <a:pt x="0" y="0"/>
                </a:moveTo>
                <a:lnTo>
                  <a:pt x="5486400" y="0"/>
                </a:lnTo>
                <a:lnTo>
                  <a:pt x="5486400" y="730250"/>
                </a:lnTo>
                <a:lnTo>
                  <a:pt x="0" y="730250"/>
                </a:lnTo>
                <a:close/>
              </a:path>
            </a:pathLst>
          </a:custGeom>
          <a:blipFill>
            <a:blip r:embed="rId4">
              <a:alphaModFix amt="0"/>
            </a:blip>
            <a:stretch>
              <a:fillRect t="-96391" b="-96391"/>
            </a:stretch>
          </a:blipFill>
        </p:spPr>
        <p:txBody>
          <a:bodyPr/>
          <a:lstStyle/>
          <a:p>
            <a:endParaRPr lang="en-IN" sz="1200" dirty="0"/>
          </a:p>
        </p:txBody>
      </p:sp>
      <p:sp>
        <p:nvSpPr>
          <p:cNvPr id="20" name="TextBox 20"/>
          <p:cNvSpPr txBox="1"/>
          <p:nvPr/>
        </p:nvSpPr>
        <p:spPr>
          <a:xfrm>
            <a:off x="1793844" y="280962"/>
            <a:ext cx="8672055" cy="1338508"/>
          </a:xfrm>
          <a:prstGeom prst="rect">
            <a:avLst/>
          </a:prstGeom>
        </p:spPr>
        <p:txBody>
          <a:bodyPr lIns="0" tIns="0" rIns="0" bIns="0" rtlCol="0" anchor="t">
            <a:spAutoFit/>
          </a:bodyPr>
          <a:lstStyle/>
          <a:p>
            <a:pPr algn="ctr">
              <a:lnSpc>
                <a:spcPts val="2880"/>
              </a:lnSpc>
            </a:pPr>
            <a:r>
              <a:rPr lang="en-US" sz="2400" b="1" dirty="0">
                <a:solidFill>
                  <a:srgbClr val="0070C0"/>
                </a:solidFill>
                <a:latin typeface="Times New Roman Bold"/>
                <a:ea typeface="Times New Roman Bold"/>
                <a:cs typeface="Times New Roman Bold"/>
                <a:sym typeface="Times New Roman Bold"/>
              </a:rPr>
              <a:t>BALLARI INSTITUTE OF TECHNOLOGY &amp; MANAGEMENT</a:t>
            </a:r>
          </a:p>
          <a:p>
            <a:pPr algn="ctr">
              <a:lnSpc>
                <a:spcPts val="1919"/>
              </a:lnSpc>
            </a:pPr>
            <a:r>
              <a:rPr lang="en-US" sz="1600" dirty="0">
                <a:solidFill>
                  <a:srgbClr val="0070C0"/>
                </a:solidFill>
                <a:latin typeface="Times New Roman"/>
                <a:ea typeface="Times New Roman"/>
                <a:cs typeface="Times New Roman"/>
                <a:sym typeface="Times New Roman"/>
              </a:rPr>
              <a:t>Autonomous Institute under VTU, Ballari-Hospet Road, Allipur, Ballari-583 104 Karnataka ,India</a:t>
            </a:r>
          </a:p>
          <a:p>
            <a:pPr algn="ctr">
              <a:lnSpc>
                <a:spcPts val="2880"/>
              </a:lnSpc>
            </a:pPr>
            <a:endParaRPr lang="en-US" sz="1600" dirty="0">
              <a:solidFill>
                <a:srgbClr val="0070C0"/>
              </a:solidFill>
              <a:latin typeface="Times New Roman"/>
              <a:ea typeface="Times New Roman"/>
              <a:cs typeface="Times New Roman"/>
              <a:sym typeface="Times New Roman"/>
            </a:endParaRPr>
          </a:p>
          <a:p>
            <a:pPr algn="ctr">
              <a:lnSpc>
                <a:spcPts val="2880"/>
              </a:lnSpc>
            </a:pPr>
            <a:r>
              <a:rPr lang="en-US" sz="2400" b="1" dirty="0">
                <a:solidFill>
                  <a:srgbClr val="7030A0"/>
                </a:solidFill>
                <a:latin typeface="Times New Roman Bold"/>
                <a:ea typeface="Times New Roman Bold"/>
                <a:cs typeface="Times New Roman Bold"/>
                <a:sym typeface="Times New Roman Bold"/>
              </a:rPr>
              <a:t>Department of Artificial Intelligence &amp; Machine Learning</a:t>
            </a:r>
          </a:p>
        </p:txBody>
      </p:sp>
      <p:sp>
        <p:nvSpPr>
          <p:cNvPr id="35" name="Date Placeholder 34">
            <a:extLst>
              <a:ext uri="{FF2B5EF4-FFF2-40B4-BE49-F238E27FC236}">
                <a16:creationId xmlns:a16="http://schemas.microsoft.com/office/drawing/2014/main" id="{184A4F4B-00FD-AEEF-5160-0027D01B86D5}"/>
              </a:ext>
            </a:extLst>
          </p:cNvPr>
          <p:cNvSpPr>
            <a:spLocks noGrp="1"/>
          </p:cNvSpPr>
          <p:nvPr>
            <p:ph type="dt" sz="half" idx="10"/>
          </p:nvPr>
        </p:nvSpPr>
        <p:spPr>
          <a:xfrm>
            <a:off x="204364" y="6465117"/>
            <a:ext cx="1422400" cy="243417"/>
          </a:xfrm>
        </p:spPr>
        <p:txBody>
          <a:bodyPr/>
          <a:lstStyle/>
          <a:p>
            <a:fld id="{C813A409-57C0-4F41-98B0-943B7B776929}" type="datetime1">
              <a:rPr lang="en-US" b="1" smtClean="0"/>
              <a:t>4/29/2026</a:t>
            </a:fld>
            <a:endParaRPr lang="en-US" b="1" dirty="0"/>
          </a:p>
        </p:txBody>
      </p:sp>
      <p:sp>
        <p:nvSpPr>
          <p:cNvPr id="16" name="Slide Number Placeholder 15">
            <a:extLst>
              <a:ext uri="{FF2B5EF4-FFF2-40B4-BE49-F238E27FC236}">
                <a16:creationId xmlns:a16="http://schemas.microsoft.com/office/drawing/2014/main" id="{7992A5A8-1930-8A83-E638-16FDFBF474EA}"/>
              </a:ext>
            </a:extLst>
          </p:cNvPr>
          <p:cNvSpPr>
            <a:spLocks noGrp="1"/>
          </p:cNvSpPr>
          <p:nvPr>
            <p:ph type="sldNum" sz="quarter" idx="12"/>
          </p:nvPr>
        </p:nvSpPr>
        <p:spPr>
          <a:xfrm>
            <a:off x="10627970" y="6473310"/>
            <a:ext cx="1422400" cy="243417"/>
          </a:xfrm>
        </p:spPr>
        <p:txBody>
          <a:bodyPr/>
          <a:lstStyle/>
          <a:p>
            <a:fld id="{B6F15528-21DE-4FAA-801E-634DDDAF4B2B}" type="slidenum">
              <a:rPr lang="en-US" sz="1067"/>
              <a:pPr/>
              <a:t>1</a:t>
            </a:fld>
            <a:endParaRPr lang="en-US" sz="1067"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1BD81-E049-478E-D2C2-1B6563A65F96}"/>
              </a:ext>
            </a:extLst>
          </p:cNvPr>
          <p:cNvSpPr>
            <a:spLocks noGrp="1"/>
          </p:cNvSpPr>
          <p:nvPr>
            <p:ph type="title"/>
          </p:nvPr>
        </p:nvSpPr>
        <p:spPr>
          <a:xfrm>
            <a:off x="767080" y="18255"/>
            <a:ext cx="10515600" cy="743745"/>
          </a:xfrm>
        </p:spPr>
        <p:txBody>
          <a:bodyPr>
            <a:normAutofit/>
          </a:bodyPr>
          <a:lstStyle/>
          <a:p>
            <a:pPr algn="ctr"/>
            <a:r>
              <a:rPr lang="en-IN" sz="3600" b="1" dirty="0">
                <a:latin typeface="Times New Roman" panose="02020603050405020304" pitchFamily="18" charset="0"/>
                <a:cs typeface="Times New Roman" panose="02020603050405020304" pitchFamily="18" charset="0"/>
              </a:rPr>
              <a:t>INTRODUCTION</a:t>
            </a:r>
          </a:p>
        </p:txBody>
      </p:sp>
      <p:sp>
        <p:nvSpPr>
          <p:cNvPr id="6" name="Date Placeholder 5">
            <a:extLst>
              <a:ext uri="{FF2B5EF4-FFF2-40B4-BE49-F238E27FC236}">
                <a16:creationId xmlns:a16="http://schemas.microsoft.com/office/drawing/2014/main" id="{D531759F-4E9E-D2F0-4B52-0636EC02AB2D}"/>
              </a:ext>
            </a:extLst>
          </p:cNvPr>
          <p:cNvSpPr>
            <a:spLocks noGrp="1"/>
          </p:cNvSpPr>
          <p:nvPr>
            <p:ph type="dt" sz="half" idx="10"/>
          </p:nvPr>
        </p:nvSpPr>
        <p:spPr/>
        <p:txBody>
          <a:bodyPr/>
          <a:lstStyle/>
          <a:p>
            <a:fld id="{120E2FC4-90CF-4D3D-984A-DBB48CDFC478}" type="datetime1">
              <a:rPr lang="en-US" smtClean="0"/>
              <a:t>4/29/2026</a:t>
            </a:fld>
            <a:endParaRPr lang="en-IN" dirty="0"/>
          </a:p>
        </p:txBody>
      </p:sp>
      <p:sp>
        <p:nvSpPr>
          <p:cNvPr id="7" name="Slide Number Placeholder 6">
            <a:extLst>
              <a:ext uri="{FF2B5EF4-FFF2-40B4-BE49-F238E27FC236}">
                <a16:creationId xmlns:a16="http://schemas.microsoft.com/office/drawing/2014/main" id="{D63A077D-E4B2-1100-97E1-D310EEBDDE7F}"/>
              </a:ext>
            </a:extLst>
          </p:cNvPr>
          <p:cNvSpPr>
            <a:spLocks noGrp="1"/>
          </p:cNvSpPr>
          <p:nvPr>
            <p:ph type="sldNum" sz="quarter" idx="12"/>
          </p:nvPr>
        </p:nvSpPr>
        <p:spPr/>
        <p:txBody>
          <a:bodyPr/>
          <a:lstStyle/>
          <a:p>
            <a:fld id="{4F8E779C-ED91-4F95-87E7-CD40D1061BB2}" type="slidenum">
              <a:rPr lang="en-IN" smtClean="0"/>
              <a:t>2</a:t>
            </a:fld>
            <a:endParaRPr lang="en-IN" dirty="0"/>
          </a:p>
        </p:txBody>
      </p:sp>
      <p:sp>
        <p:nvSpPr>
          <p:cNvPr id="8" name="Rectangle 2">
            <a:extLst>
              <a:ext uri="{FF2B5EF4-FFF2-40B4-BE49-F238E27FC236}">
                <a16:creationId xmlns:a16="http://schemas.microsoft.com/office/drawing/2014/main" id="{1D83D983-480C-8A1E-7A76-C71AECFF467F}"/>
              </a:ext>
            </a:extLst>
          </p:cNvPr>
          <p:cNvSpPr>
            <a:spLocks noGrp="1" noChangeArrowheads="1"/>
          </p:cNvSpPr>
          <p:nvPr>
            <p:ph idx="1"/>
          </p:nvPr>
        </p:nvSpPr>
        <p:spPr bwMode="auto">
          <a:xfrm>
            <a:off x="155833" y="1426590"/>
            <a:ext cx="11050484" cy="2795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lnSpc>
                <a:spcPct val="150000"/>
              </a:lnSpc>
              <a:spcBef>
                <a:spcPct val="0"/>
              </a:spcBef>
              <a:spcAft>
                <a:spcPct val="0"/>
              </a:spcAft>
              <a:buNone/>
            </a:pPr>
            <a:r>
              <a:rPr lang="en-US" sz="2400" dirty="0">
                <a:latin typeface="Times New Roman" panose="02020603050405020304" pitchFamily="18" charset="0"/>
                <a:cs typeface="Times New Roman" panose="02020603050405020304" pitchFamily="18" charset="0"/>
              </a:rPr>
              <a:t>Natural Language Processing (NLP) is a field of Artificial Intelligence that enables computers to understand and process human language. It is widely used in applications such as sentiment analysis, chatbots, and recommendation systems. Sentiment analysis, in particular, helps identify user opinions from textual data and is highly useful for analyzing customer feedback and reviews.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0479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135F8-A1FB-B1D4-D38E-C5A1C606DA8D}"/>
              </a:ext>
            </a:extLst>
          </p:cNvPr>
          <p:cNvSpPr>
            <a:spLocks noGrp="1"/>
          </p:cNvSpPr>
          <p:nvPr>
            <p:ph type="title"/>
          </p:nvPr>
        </p:nvSpPr>
        <p:spPr>
          <a:xfrm>
            <a:off x="838200" y="80645"/>
            <a:ext cx="10515600" cy="711835"/>
          </a:xfrm>
        </p:spPr>
        <p:txBody>
          <a:bodyPr>
            <a:normAutofit/>
          </a:bodyPr>
          <a:lstStyle/>
          <a:p>
            <a:pPr algn="ctr"/>
            <a:r>
              <a:rPr lang="en-IN" sz="3600" b="1" dirty="0">
                <a:latin typeface="Times New Roman" panose="02020603050405020304" pitchFamily="18" charset="0"/>
                <a:cs typeface="Times New Roman" panose="02020603050405020304" pitchFamily="18" charset="0"/>
              </a:rPr>
              <a:t>PROBLEM STATEMENT</a:t>
            </a:r>
          </a:p>
        </p:txBody>
      </p:sp>
      <p:sp>
        <p:nvSpPr>
          <p:cNvPr id="6" name="Date Placeholder 5">
            <a:extLst>
              <a:ext uri="{FF2B5EF4-FFF2-40B4-BE49-F238E27FC236}">
                <a16:creationId xmlns:a16="http://schemas.microsoft.com/office/drawing/2014/main" id="{E6176773-B617-D570-76C7-6E4F475EF1C9}"/>
              </a:ext>
            </a:extLst>
          </p:cNvPr>
          <p:cNvSpPr>
            <a:spLocks noGrp="1"/>
          </p:cNvSpPr>
          <p:nvPr>
            <p:ph type="dt" sz="half" idx="10"/>
          </p:nvPr>
        </p:nvSpPr>
        <p:spPr/>
        <p:txBody>
          <a:bodyPr/>
          <a:lstStyle/>
          <a:p>
            <a:fld id="{08DDA2FC-6F58-4C1D-B311-64C054532428}" type="datetime1">
              <a:rPr lang="en-US" smtClean="0"/>
              <a:t>4/29/2026</a:t>
            </a:fld>
            <a:endParaRPr lang="en-IN" dirty="0"/>
          </a:p>
        </p:txBody>
      </p:sp>
      <p:sp>
        <p:nvSpPr>
          <p:cNvPr id="7" name="Slide Number Placeholder 6">
            <a:extLst>
              <a:ext uri="{FF2B5EF4-FFF2-40B4-BE49-F238E27FC236}">
                <a16:creationId xmlns:a16="http://schemas.microsoft.com/office/drawing/2014/main" id="{D4E9BBBC-136B-D786-B303-6DAD26D0756C}"/>
              </a:ext>
            </a:extLst>
          </p:cNvPr>
          <p:cNvSpPr>
            <a:spLocks noGrp="1"/>
          </p:cNvSpPr>
          <p:nvPr>
            <p:ph type="sldNum" sz="quarter" idx="12"/>
          </p:nvPr>
        </p:nvSpPr>
        <p:spPr/>
        <p:txBody>
          <a:bodyPr/>
          <a:lstStyle/>
          <a:p>
            <a:fld id="{4F8E779C-ED91-4F95-87E7-CD40D1061BB2}" type="slidenum">
              <a:rPr lang="en-IN" smtClean="0"/>
              <a:t>3</a:t>
            </a:fld>
            <a:endParaRPr lang="en-IN" dirty="0"/>
          </a:p>
        </p:txBody>
      </p:sp>
      <p:sp>
        <p:nvSpPr>
          <p:cNvPr id="4" name="Rectangle 1">
            <a:extLst>
              <a:ext uri="{FF2B5EF4-FFF2-40B4-BE49-F238E27FC236}">
                <a16:creationId xmlns:a16="http://schemas.microsoft.com/office/drawing/2014/main" id="{EC4499F2-5DDD-5FB8-1E5B-98265BC48B45}"/>
              </a:ext>
            </a:extLst>
          </p:cNvPr>
          <p:cNvSpPr>
            <a:spLocks noGrp="1" noChangeArrowheads="1"/>
          </p:cNvSpPr>
          <p:nvPr>
            <p:ph idx="1"/>
          </p:nvPr>
        </p:nvSpPr>
        <p:spPr bwMode="auto">
          <a:xfrm>
            <a:off x="339685" y="1284762"/>
            <a:ext cx="11512630" cy="2795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lnSpc>
                <a:spcPct val="150000"/>
              </a:lnSpc>
              <a:spcBef>
                <a:spcPct val="0"/>
              </a:spcBef>
              <a:spcAft>
                <a:spcPct val="0"/>
              </a:spcAft>
              <a:buNone/>
            </a:pPr>
            <a:r>
              <a:rPr lang="en-US" sz="2400" dirty="0">
                <a:latin typeface="Times New Roman" panose="02020603050405020304" pitchFamily="18" charset="0"/>
                <a:cs typeface="Times New Roman" panose="02020603050405020304" pitchFamily="18" charset="0"/>
              </a:rPr>
              <a:t>A large amount of textual review data is generated daily, making it difficult to manually analyze user opinions. Therefore, there is a need for an automated system that can classify sentiment effectively. The reviews must be categorized into three sentiment classes: positive, neutral, and negative. The objective is to build a model that can accurately predict the sentiment of a review based on its text.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2051" name="Picture 3" descr="Sentiment analysis: Meaning, Importance &amp; Approaches">
            <a:extLst>
              <a:ext uri="{FF2B5EF4-FFF2-40B4-BE49-F238E27FC236}">
                <a16:creationId xmlns:a16="http://schemas.microsoft.com/office/drawing/2014/main" id="{46276804-5FD1-F29F-6CE6-EE5F51F8946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72" t="13848" r="1872" b="11374"/>
          <a:stretch>
            <a:fillRect/>
          </a:stretch>
        </p:blipFill>
        <p:spPr bwMode="auto">
          <a:xfrm>
            <a:off x="6096000" y="3635216"/>
            <a:ext cx="5577467" cy="26279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6171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BED191EE-6EBD-8B79-BA7D-B66A0D48D138}"/>
              </a:ext>
            </a:extLst>
          </p:cNvPr>
          <p:cNvSpPr>
            <a:spLocks noGrp="1"/>
          </p:cNvSpPr>
          <p:nvPr>
            <p:ph type="dt" sz="half" idx="10"/>
          </p:nvPr>
        </p:nvSpPr>
        <p:spPr/>
        <p:txBody>
          <a:bodyPr/>
          <a:lstStyle/>
          <a:p>
            <a:fld id="{ECD44A37-DB0E-488F-8696-689F52F1763C}" type="datetime1">
              <a:rPr lang="en-US" smtClean="0"/>
              <a:t>4/29/2026</a:t>
            </a:fld>
            <a:endParaRPr lang="en-IN" dirty="0"/>
          </a:p>
        </p:txBody>
      </p:sp>
      <p:sp>
        <p:nvSpPr>
          <p:cNvPr id="7" name="Slide Number Placeholder 6">
            <a:extLst>
              <a:ext uri="{FF2B5EF4-FFF2-40B4-BE49-F238E27FC236}">
                <a16:creationId xmlns:a16="http://schemas.microsoft.com/office/drawing/2014/main" id="{9C9E980D-DB32-3740-230A-0D5A5F25C04E}"/>
              </a:ext>
            </a:extLst>
          </p:cNvPr>
          <p:cNvSpPr>
            <a:spLocks noGrp="1"/>
          </p:cNvSpPr>
          <p:nvPr>
            <p:ph type="sldNum" sz="quarter" idx="12"/>
          </p:nvPr>
        </p:nvSpPr>
        <p:spPr/>
        <p:txBody>
          <a:bodyPr/>
          <a:lstStyle/>
          <a:p>
            <a:fld id="{4F8E779C-ED91-4F95-87E7-CD40D1061BB2}" type="slidenum">
              <a:rPr lang="en-IN" smtClean="0"/>
              <a:t>4</a:t>
            </a:fld>
            <a:endParaRPr lang="en-IN" dirty="0"/>
          </a:p>
        </p:txBody>
      </p:sp>
      <p:sp>
        <p:nvSpPr>
          <p:cNvPr id="4" name="TextBox 3">
            <a:extLst>
              <a:ext uri="{FF2B5EF4-FFF2-40B4-BE49-F238E27FC236}">
                <a16:creationId xmlns:a16="http://schemas.microsoft.com/office/drawing/2014/main" id="{1560EE19-5A00-878D-450F-34D83781E1E0}"/>
              </a:ext>
            </a:extLst>
          </p:cNvPr>
          <p:cNvSpPr txBox="1"/>
          <p:nvPr/>
        </p:nvSpPr>
        <p:spPr>
          <a:xfrm>
            <a:off x="3153697" y="206200"/>
            <a:ext cx="6096000" cy="823752"/>
          </a:xfrm>
          <a:prstGeom prst="rect">
            <a:avLst/>
          </a:prstGeom>
          <a:noFill/>
        </p:spPr>
        <p:txBody>
          <a:bodyPr wrap="square">
            <a:spAutoFit/>
          </a:bodyPr>
          <a:lstStyle/>
          <a:p>
            <a:pPr algn="ctr">
              <a:lnSpc>
                <a:spcPct val="150000"/>
              </a:lnSpc>
            </a:pPr>
            <a:r>
              <a:rPr lang="en-IN" sz="3600" b="1" dirty="0">
                <a:latin typeface="Times New Roman" panose="02020603050405020304" pitchFamily="18" charset="0"/>
                <a:cs typeface="Times New Roman" panose="02020603050405020304" pitchFamily="18" charset="0"/>
              </a:rPr>
              <a:t>OBJECTIVES</a:t>
            </a:r>
          </a:p>
        </p:txBody>
      </p:sp>
      <p:sp>
        <p:nvSpPr>
          <p:cNvPr id="5" name="Rectangle 1">
            <a:extLst>
              <a:ext uri="{FF2B5EF4-FFF2-40B4-BE49-F238E27FC236}">
                <a16:creationId xmlns:a16="http://schemas.microsoft.com/office/drawing/2014/main" id="{22FA7FAE-F4A2-87A0-3177-CBE0844AE787}"/>
              </a:ext>
            </a:extLst>
          </p:cNvPr>
          <p:cNvSpPr>
            <a:spLocks noGrp="1" noChangeArrowheads="1"/>
          </p:cNvSpPr>
          <p:nvPr>
            <p:ph idx="1"/>
          </p:nvPr>
        </p:nvSpPr>
        <p:spPr bwMode="auto">
          <a:xfrm>
            <a:off x="268634" y="1029952"/>
            <a:ext cx="8111516" cy="2518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Clean and preprocess the review text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 sentiment of each review (Positive, Neutral, Negative)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Build models to classify sentiment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Evaluate model performance </a:t>
            </a:r>
          </a:p>
        </p:txBody>
      </p:sp>
      <p:pic>
        <p:nvPicPr>
          <p:cNvPr id="3075" name="Picture 3" descr="Track your target achievements with the goal icon for clear progress monitoring.">
            <a:extLst>
              <a:ext uri="{FF2B5EF4-FFF2-40B4-BE49-F238E27FC236}">
                <a16:creationId xmlns:a16="http://schemas.microsoft.com/office/drawing/2014/main" id="{EE70CAE1-7722-6621-68A5-6542008FCFE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710" t="8355" r="8216" b="8616"/>
          <a:stretch>
            <a:fillRect/>
          </a:stretch>
        </p:blipFill>
        <p:spPr bwMode="auto">
          <a:xfrm>
            <a:off x="9674941" y="1248696"/>
            <a:ext cx="1484671" cy="1466228"/>
          </a:xfrm>
          <a:prstGeom prst="rect">
            <a:avLst/>
          </a:prstGeom>
          <a:noFill/>
          <a:extLst>
            <a:ext uri="{909E8E84-426E-40DD-AFC4-6F175D3DCCD1}">
              <a14:hiddenFill xmlns:a14="http://schemas.microsoft.com/office/drawing/2010/main">
                <a:solidFill>
                  <a:srgbClr val="FFFFFF"/>
                </a:solidFill>
              </a14:hiddenFill>
            </a:ext>
          </a:extLst>
        </p:spPr>
      </p:pic>
      <p:pic>
        <p:nvPicPr>
          <p:cNvPr id="3077" name="Picture 5" descr="Goal icon. icon related to action plan. suitable for web site, app, user interfaces, printable etc. line icon style. simple vector design editable">
            <a:extLst>
              <a:ext uri="{FF2B5EF4-FFF2-40B4-BE49-F238E27FC236}">
                <a16:creationId xmlns:a16="http://schemas.microsoft.com/office/drawing/2014/main" id="{CA63B7EA-FA52-476B-FAD1-1AFE2D7EFC6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657" t="9411" r="20914" b="8674"/>
          <a:stretch>
            <a:fillRect/>
          </a:stretch>
        </p:blipFill>
        <p:spPr bwMode="auto">
          <a:xfrm>
            <a:off x="7315200" y="3328015"/>
            <a:ext cx="3185652" cy="3028335"/>
          </a:xfrm>
          <a:prstGeom prst="rect">
            <a:avLst/>
          </a:prstGeom>
          <a:noFill/>
          <a:extLst>
            <a:ext uri="{909E8E84-426E-40DD-AFC4-6F175D3DCCD1}">
              <a14:hiddenFill xmlns:a14="http://schemas.microsoft.com/office/drawing/2010/main">
                <a:solidFill>
                  <a:srgbClr val="FFFFFF"/>
                </a:solidFill>
              </a14:hiddenFill>
            </a:ext>
          </a:extLst>
        </p:spPr>
      </p:pic>
      <p:pic>
        <p:nvPicPr>
          <p:cNvPr id="3079" name="Picture 7" descr="Input Output Process Flow Business Services Product of Management Transformation">
            <a:extLst>
              <a:ext uri="{FF2B5EF4-FFF2-40B4-BE49-F238E27FC236}">
                <a16:creationId xmlns:a16="http://schemas.microsoft.com/office/drawing/2014/main" id="{52DC4EE4-8752-96E4-6680-EB4500A17BC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2258" b="24732"/>
          <a:stretch>
            <a:fillRect/>
          </a:stretch>
        </p:blipFill>
        <p:spPr bwMode="auto">
          <a:xfrm>
            <a:off x="1476864" y="4117772"/>
            <a:ext cx="4209071" cy="14488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3603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783D8-A6B3-0C0E-6419-17DD32146C7A}"/>
              </a:ext>
            </a:extLst>
          </p:cNvPr>
          <p:cNvSpPr>
            <a:spLocks noGrp="1"/>
          </p:cNvSpPr>
          <p:nvPr>
            <p:ph type="ctrTitle"/>
          </p:nvPr>
        </p:nvSpPr>
        <p:spPr>
          <a:xfrm>
            <a:off x="3775587" y="244680"/>
            <a:ext cx="4965290" cy="836869"/>
          </a:xfrm>
        </p:spPr>
        <p:txBody>
          <a:bodyPr>
            <a:normAutofit/>
          </a:bodyPr>
          <a:lstStyle/>
          <a:p>
            <a:r>
              <a:rPr lang="en-IN" sz="3600" b="1" dirty="0">
                <a:latin typeface="Times New Roman" panose="02020603050405020304" pitchFamily="18" charset="0"/>
                <a:cs typeface="Times New Roman" panose="02020603050405020304" pitchFamily="18" charset="0"/>
              </a:rPr>
              <a:t>Dataset Description</a:t>
            </a:r>
          </a:p>
        </p:txBody>
      </p:sp>
      <p:sp>
        <p:nvSpPr>
          <p:cNvPr id="3" name="Subtitle 2">
            <a:extLst>
              <a:ext uri="{FF2B5EF4-FFF2-40B4-BE49-F238E27FC236}">
                <a16:creationId xmlns:a16="http://schemas.microsoft.com/office/drawing/2014/main" id="{70BEAD06-DBF2-ABD2-5D6E-7A17432A9EAA}"/>
              </a:ext>
            </a:extLst>
          </p:cNvPr>
          <p:cNvSpPr>
            <a:spLocks noGrp="1"/>
          </p:cNvSpPr>
          <p:nvPr>
            <p:ph type="subTitle" idx="1"/>
          </p:nvPr>
        </p:nvSpPr>
        <p:spPr>
          <a:xfrm>
            <a:off x="255639" y="1851895"/>
            <a:ext cx="11454580" cy="2434969"/>
          </a:xfrm>
        </p:spPr>
        <p:txBody>
          <a:bodyPr>
            <a:noAutofit/>
          </a:bodyPr>
          <a:lstStyle/>
          <a:p>
            <a:pPr algn="just">
              <a:lnSpc>
                <a:spcPct val="150000"/>
              </a:lnSpc>
            </a:pPr>
            <a:r>
              <a:rPr lang="en-US" dirty="0">
                <a:latin typeface="Times New Roman" panose="02020603050405020304" pitchFamily="18" charset="0"/>
                <a:cs typeface="Times New Roman" panose="02020603050405020304" pitchFamily="18" charset="0"/>
              </a:rPr>
              <a:t>The dataset used in this project consists of user-generated reviews along with corresponding ratings ranging from 1 to 5. The review text is unstructured in nature and requires preprocessing before analysis. These ratings are used to categorize the sentiment of each review as positive, neutral, or negative. The dataset serves as the foundation for performing sentiment analysis using NLP techniques and machine learning models.</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E964635-42B0-8138-A544-CA84653C4266}"/>
              </a:ext>
            </a:extLst>
          </p:cNvPr>
          <p:cNvSpPr>
            <a:spLocks noGrp="1"/>
          </p:cNvSpPr>
          <p:nvPr>
            <p:ph type="dt" sz="half" idx="10"/>
          </p:nvPr>
        </p:nvSpPr>
        <p:spPr/>
        <p:txBody>
          <a:bodyPr/>
          <a:lstStyle/>
          <a:p>
            <a:fld id="{6E8233A6-C9A0-4651-8A41-B20BEB294FE0}" type="datetime1">
              <a:rPr lang="en-US" smtClean="0"/>
              <a:t>4/29/2026</a:t>
            </a:fld>
            <a:endParaRPr lang="en-IN" dirty="0"/>
          </a:p>
        </p:txBody>
      </p:sp>
      <p:sp>
        <p:nvSpPr>
          <p:cNvPr id="5" name="Slide Number Placeholder 4">
            <a:extLst>
              <a:ext uri="{FF2B5EF4-FFF2-40B4-BE49-F238E27FC236}">
                <a16:creationId xmlns:a16="http://schemas.microsoft.com/office/drawing/2014/main" id="{8531C523-0B8D-74EA-9557-8638B920BE83}"/>
              </a:ext>
            </a:extLst>
          </p:cNvPr>
          <p:cNvSpPr>
            <a:spLocks noGrp="1"/>
          </p:cNvSpPr>
          <p:nvPr>
            <p:ph type="sldNum" sz="quarter" idx="12"/>
          </p:nvPr>
        </p:nvSpPr>
        <p:spPr/>
        <p:txBody>
          <a:bodyPr/>
          <a:lstStyle/>
          <a:p>
            <a:fld id="{4F8E779C-ED91-4F95-87E7-CD40D1061BB2}" type="slidenum">
              <a:rPr lang="en-IN" smtClean="0"/>
              <a:t>5</a:t>
            </a:fld>
            <a:endParaRPr lang="en-IN" dirty="0"/>
          </a:p>
        </p:txBody>
      </p:sp>
    </p:spTree>
    <p:extLst>
      <p:ext uri="{BB962C8B-B14F-4D97-AF65-F5344CB8AC3E}">
        <p14:creationId xmlns:p14="http://schemas.microsoft.com/office/powerpoint/2010/main" val="9086492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48887-E1DE-B687-137F-BFCF769EC19D}"/>
              </a:ext>
            </a:extLst>
          </p:cNvPr>
          <p:cNvSpPr>
            <a:spLocks noGrp="1"/>
          </p:cNvSpPr>
          <p:nvPr>
            <p:ph type="title"/>
          </p:nvPr>
        </p:nvSpPr>
        <p:spPr/>
        <p:txBody>
          <a:bodyPr>
            <a:normAutofit/>
          </a:bodyPr>
          <a:lstStyle/>
          <a:p>
            <a:pPr algn="ctr"/>
            <a:r>
              <a:rPr lang="en-IN" sz="3600" b="1" dirty="0">
                <a:latin typeface="Times New Roman" panose="02020603050405020304" pitchFamily="18" charset="0"/>
                <a:cs typeface="Times New Roman" panose="02020603050405020304" pitchFamily="18" charset="0"/>
              </a:rPr>
              <a:t>SYSTEM WORKFLOW</a:t>
            </a:r>
          </a:p>
        </p:txBody>
      </p:sp>
      <p:pic>
        <p:nvPicPr>
          <p:cNvPr id="7" name="Content Placeholder 6">
            <a:extLst>
              <a:ext uri="{FF2B5EF4-FFF2-40B4-BE49-F238E27FC236}">
                <a16:creationId xmlns:a16="http://schemas.microsoft.com/office/drawing/2014/main" id="{B4D9A2C4-3FF4-ABCF-48A9-5E9B3D63C99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3857"/>
          <a:stretch>
            <a:fillRect/>
          </a:stretch>
        </p:blipFill>
        <p:spPr>
          <a:xfrm>
            <a:off x="2085244" y="1307230"/>
            <a:ext cx="8159969" cy="4686189"/>
          </a:xfrm>
          <a:prstGeom prst="rect">
            <a:avLst/>
          </a:prstGeom>
        </p:spPr>
      </p:pic>
      <p:sp>
        <p:nvSpPr>
          <p:cNvPr id="4" name="Date Placeholder 3">
            <a:extLst>
              <a:ext uri="{FF2B5EF4-FFF2-40B4-BE49-F238E27FC236}">
                <a16:creationId xmlns:a16="http://schemas.microsoft.com/office/drawing/2014/main" id="{D2C02089-ACA9-0713-36FD-9321BF9C2066}"/>
              </a:ext>
            </a:extLst>
          </p:cNvPr>
          <p:cNvSpPr>
            <a:spLocks noGrp="1"/>
          </p:cNvSpPr>
          <p:nvPr>
            <p:ph type="dt" sz="half" idx="10"/>
          </p:nvPr>
        </p:nvSpPr>
        <p:spPr/>
        <p:txBody>
          <a:bodyPr/>
          <a:lstStyle/>
          <a:p>
            <a:fld id="{748C2B3D-EBD5-4237-BF30-396E79B726C3}" type="datetime1">
              <a:rPr lang="en-US" smtClean="0"/>
              <a:t>4/29/2026</a:t>
            </a:fld>
            <a:endParaRPr lang="en-IN" dirty="0"/>
          </a:p>
        </p:txBody>
      </p:sp>
      <p:sp>
        <p:nvSpPr>
          <p:cNvPr id="5" name="Slide Number Placeholder 4">
            <a:extLst>
              <a:ext uri="{FF2B5EF4-FFF2-40B4-BE49-F238E27FC236}">
                <a16:creationId xmlns:a16="http://schemas.microsoft.com/office/drawing/2014/main" id="{794D0BFC-14C7-C274-E9C5-DBA03F162F02}"/>
              </a:ext>
            </a:extLst>
          </p:cNvPr>
          <p:cNvSpPr>
            <a:spLocks noGrp="1"/>
          </p:cNvSpPr>
          <p:nvPr>
            <p:ph type="sldNum" sz="quarter" idx="12"/>
          </p:nvPr>
        </p:nvSpPr>
        <p:spPr/>
        <p:txBody>
          <a:bodyPr/>
          <a:lstStyle/>
          <a:p>
            <a:fld id="{4F8E779C-ED91-4F95-87E7-CD40D1061BB2}" type="slidenum">
              <a:rPr lang="en-IN" smtClean="0"/>
              <a:t>6</a:t>
            </a:fld>
            <a:endParaRPr lang="en-IN" dirty="0"/>
          </a:p>
        </p:txBody>
      </p:sp>
    </p:spTree>
    <p:extLst>
      <p:ext uri="{BB962C8B-B14F-4D97-AF65-F5344CB8AC3E}">
        <p14:creationId xmlns:p14="http://schemas.microsoft.com/office/powerpoint/2010/main" val="4067061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67780-9039-C2AF-DAF0-60A2809DE67E}"/>
              </a:ext>
            </a:extLst>
          </p:cNvPr>
          <p:cNvSpPr>
            <a:spLocks noGrp="1"/>
          </p:cNvSpPr>
          <p:nvPr>
            <p:ph type="title"/>
          </p:nvPr>
        </p:nvSpPr>
        <p:spPr/>
        <p:txBody>
          <a:bodyPr>
            <a:normAutofit/>
          </a:bodyPr>
          <a:lstStyle/>
          <a:p>
            <a:pPr algn="ctr"/>
            <a:r>
              <a:rPr lang="en-IN" sz="3600" b="1" dirty="0">
                <a:latin typeface="Times New Roman" panose="02020603050405020304" pitchFamily="18" charset="0"/>
                <a:cs typeface="Times New Roman" panose="02020603050405020304" pitchFamily="18" charset="0"/>
              </a:rPr>
              <a:t>DATA PREPROCESSING</a:t>
            </a:r>
          </a:p>
        </p:txBody>
      </p:sp>
      <p:sp>
        <p:nvSpPr>
          <p:cNvPr id="3" name="Content Placeholder 2">
            <a:extLst>
              <a:ext uri="{FF2B5EF4-FFF2-40B4-BE49-F238E27FC236}">
                <a16:creationId xmlns:a16="http://schemas.microsoft.com/office/drawing/2014/main" id="{FE4A7D0C-0C50-BD37-184C-9B956B217C60}"/>
              </a:ext>
            </a:extLst>
          </p:cNvPr>
          <p:cNvSpPr>
            <a:spLocks noGrp="1"/>
          </p:cNvSpPr>
          <p:nvPr>
            <p:ph idx="1"/>
          </p:nvPr>
        </p:nvSpPr>
        <p:spPr/>
        <p:txBody>
          <a:bodyPr>
            <a:normAutofit/>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Data preprocessing is an important step in NLP where raw text is cleaned and prepared for analysis. In this project, preprocessing includes converting text to lowercase, removing punctuation and </a:t>
            </a:r>
            <a:r>
              <a:rPr lang="en-US" sz="2400" dirty="0" err="1">
                <a:latin typeface="Times New Roman" panose="02020603050405020304" pitchFamily="18" charset="0"/>
                <a:cs typeface="Times New Roman" panose="02020603050405020304" pitchFamily="18" charset="0"/>
              </a:rPr>
              <a:t>stopwords</a:t>
            </a:r>
            <a:r>
              <a:rPr lang="en-US" sz="2400" dirty="0">
                <a:latin typeface="Times New Roman" panose="02020603050405020304" pitchFamily="18" charset="0"/>
                <a:cs typeface="Times New Roman" panose="02020603050405020304" pitchFamily="18" charset="0"/>
              </a:rPr>
              <a:t>, and performing tokenization. These steps help in reducing noise and improving the quality of the data for better model performance.</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54D4B50A-4FC7-C61D-C449-C53AC5E1D9C8}"/>
              </a:ext>
            </a:extLst>
          </p:cNvPr>
          <p:cNvSpPr>
            <a:spLocks noGrp="1"/>
          </p:cNvSpPr>
          <p:nvPr>
            <p:ph type="dt" sz="half" idx="10"/>
          </p:nvPr>
        </p:nvSpPr>
        <p:spPr/>
        <p:txBody>
          <a:bodyPr/>
          <a:lstStyle/>
          <a:p>
            <a:fld id="{748C2B3D-EBD5-4237-BF30-396E79B726C3}" type="datetime1">
              <a:rPr lang="en-US" smtClean="0"/>
              <a:t>4/29/2026</a:t>
            </a:fld>
            <a:endParaRPr lang="en-IN" dirty="0"/>
          </a:p>
        </p:txBody>
      </p:sp>
      <p:sp>
        <p:nvSpPr>
          <p:cNvPr id="5" name="Slide Number Placeholder 4">
            <a:extLst>
              <a:ext uri="{FF2B5EF4-FFF2-40B4-BE49-F238E27FC236}">
                <a16:creationId xmlns:a16="http://schemas.microsoft.com/office/drawing/2014/main" id="{8032118C-AE2F-4A87-E42C-55EBDB85C302}"/>
              </a:ext>
            </a:extLst>
          </p:cNvPr>
          <p:cNvSpPr>
            <a:spLocks noGrp="1"/>
          </p:cNvSpPr>
          <p:nvPr>
            <p:ph type="sldNum" sz="quarter" idx="12"/>
          </p:nvPr>
        </p:nvSpPr>
        <p:spPr/>
        <p:txBody>
          <a:bodyPr/>
          <a:lstStyle/>
          <a:p>
            <a:fld id="{4F8E779C-ED91-4F95-87E7-CD40D1061BB2}" type="slidenum">
              <a:rPr lang="en-IN" smtClean="0"/>
              <a:t>7</a:t>
            </a:fld>
            <a:endParaRPr lang="en-IN" dirty="0"/>
          </a:p>
        </p:txBody>
      </p:sp>
    </p:spTree>
    <p:extLst>
      <p:ext uri="{BB962C8B-B14F-4D97-AF65-F5344CB8AC3E}">
        <p14:creationId xmlns:p14="http://schemas.microsoft.com/office/powerpoint/2010/main" val="166416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59ECA-9FC7-4A07-05AF-3887FFB4FC06}"/>
              </a:ext>
            </a:extLst>
          </p:cNvPr>
          <p:cNvSpPr>
            <a:spLocks noGrp="1"/>
          </p:cNvSpPr>
          <p:nvPr>
            <p:ph type="title"/>
          </p:nvPr>
        </p:nvSpPr>
        <p:spPr/>
        <p:txBody>
          <a:bodyPr>
            <a:normAutofit/>
          </a:bodyPr>
          <a:lstStyle/>
          <a:p>
            <a:pPr algn="ctr"/>
            <a:r>
              <a:rPr lang="en-IN" sz="3600" b="1" dirty="0">
                <a:latin typeface="Times New Roman" panose="02020603050405020304" pitchFamily="18" charset="0"/>
                <a:cs typeface="Times New Roman" panose="02020603050405020304" pitchFamily="18" charset="0"/>
              </a:rPr>
              <a:t>VADER Sentiment Scoring</a:t>
            </a:r>
          </a:p>
        </p:txBody>
      </p:sp>
      <p:sp>
        <p:nvSpPr>
          <p:cNvPr id="3" name="Content Placeholder 2">
            <a:extLst>
              <a:ext uri="{FF2B5EF4-FFF2-40B4-BE49-F238E27FC236}">
                <a16:creationId xmlns:a16="http://schemas.microsoft.com/office/drawing/2014/main" id="{CFB0FC96-6EE7-0941-E02B-C8E0F2D60647}"/>
              </a:ext>
            </a:extLst>
          </p:cNvPr>
          <p:cNvSpPr>
            <a:spLocks noGrp="1"/>
          </p:cNvSpPr>
          <p:nvPr>
            <p:ph idx="1"/>
          </p:nvPr>
        </p:nvSpPr>
        <p:spPr/>
        <p:txBody>
          <a:bodyPr>
            <a:normAutofit/>
          </a:bodyPr>
          <a:lstStyle/>
          <a:p>
            <a:pPr algn="just">
              <a:lnSpc>
                <a:spcPct val="150000"/>
              </a:lnSpc>
            </a:pPr>
            <a:r>
              <a:rPr lang="en-US" sz="2400" dirty="0">
                <a:latin typeface="Times New Roman" panose="02020603050405020304" pitchFamily="18" charset="0"/>
                <a:cs typeface="Times New Roman" panose="02020603050405020304" pitchFamily="18" charset="0"/>
              </a:rPr>
              <a:t>VADER (Valence Aware Dictionary and </a:t>
            </a:r>
            <a:r>
              <a:rPr lang="en-US" sz="2400" dirty="0" err="1">
                <a:latin typeface="Times New Roman" panose="02020603050405020304" pitchFamily="18" charset="0"/>
                <a:cs typeface="Times New Roman" panose="02020603050405020304" pitchFamily="18" charset="0"/>
              </a:rPr>
              <a:t>sEntiment</a:t>
            </a:r>
            <a:r>
              <a:rPr lang="en-US" sz="2400" dirty="0">
                <a:latin typeface="Times New Roman" panose="02020603050405020304" pitchFamily="18" charset="0"/>
                <a:cs typeface="Times New Roman" panose="02020603050405020304" pitchFamily="18" charset="0"/>
              </a:rPr>
              <a:t> Reasoner) is a rule-based sentiment analysis tool available in the NLTK library.</a:t>
            </a:r>
          </a:p>
          <a:p>
            <a:pPr algn="just">
              <a:lnSpc>
                <a:spcPct val="150000"/>
              </a:lnSpc>
            </a:pPr>
            <a:r>
              <a:rPr lang="en-US" sz="2400" dirty="0">
                <a:latin typeface="Times New Roman" panose="02020603050405020304" pitchFamily="18" charset="0"/>
                <a:cs typeface="Times New Roman" panose="02020603050405020304" pitchFamily="18" charset="0"/>
              </a:rPr>
              <a:t> It is used to determine the sentiment of text by calculating polarity scores using the </a:t>
            </a:r>
            <a:r>
              <a:rPr lang="en-US" sz="2400" dirty="0" err="1">
                <a:latin typeface="Times New Roman" panose="02020603050405020304" pitchFamily="18" charset="0"/>
                <a:cs typeface="Times New Roman" panose="02020603050405020304" pitchFamily="18" charset="0"/>
              </a:rPr>
              <a:t>polarity_scores</a:t>
            </a:r>
            <a:r>
              <a:rPr lang="en-US" sz="2400" dirty="0">
                <a:latin typeface="Times New Roman" panose="02020603050405020304" pitchFamily="18" charset="0"/>
                <a:cs typeface="Times New Roman" panose="02020603050405020304" pitchFamily="18" charset="0"/>
              </a:rPr>
              <a:t>() method.</a:t>
            </a:r>
          </a:p>
          <a:p>
            <a:pPr algn="just">
              <a:lnSpc>
                <a:spcPct val="150000"/>
              </a:lnSpc>
            </a:pPr>
            <a:r>
              <a:rPr lang="en-US" sz="2400" dirty="0">
                <a:latin typeface="Times New Roman" panose="02020603050405020304" pitchFamily="18" charset="0"/>
                <a:cs typeface="Times New Roman" panose="02020603050405020304" pitchFamily="18" charset="0"/>
              </a:rPr>
              <a:t> It provides four types of scores: positive, negative, neutral, and compound. </a:t>
            </a:r>
          </a:p>
          <a:p>
            <a:pPr algn="just">
              <a:lnSpc>
                <a:spcPct val="150000"/>
              </a:lnSpc>
            </a:pPr>
            <a:r>
              <a:rPr lang="en-US" sz="2400" dirty="0">
                <a:latin typeface="Times New Roman" panose="02020603050405020304" pitchFamily="18" charset="0"/>
                <a:cs typeface="Times New Roman" panose="02020603050405020304" pitchFamily="18" charset="0"/>
              </a:rPr>
              <a:t>The compound score represents the overall sentiment of the text and is used to classify reviews effectively.</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E0144FA-5645-3439-1558-057CC117A5FA}"/>
              </a:ext>
            </a:extLst>
          </p:cNvPr>
          <p:cNvSpPr>
            <a:spLocks noGrp="1"/>
          </p:cNvSpPr>
          <p:nvPr>
            <p:ph type="dt" sz="half" idx="10"/>
          </p:nvPr>
        </p:nvSpPr>
        <p:spPr/>
        <p:txBody>
          <a:bodyPr/>
          <a:lstStyle/>
          <a:p>
            <a:fld id="{748C2B3D-EBD5-4237-BF30-396E79B726C3}" type="datetime1">
              <a:rPr lang="en-US" smtClean="0"/>
              <a:t>4/29/2026</a:t>
            </a:fld>
            <a:endParaRPr lang="en-IN" dirty="0"/>
          </a:p>
        </p:txBody>
      </p:sp>
      <p:sp>
        <p:nvSpPr>
          <p:cNvPr id="5" name="Slide Number Placeholder 4">
            <a:extLst>
              <a:ext uri="{FF2B5EF4-FFF2-40B4-BE49-F238E27FC236}">
                <a16:creationId xmlns:a16="http://schemas.microsoft.com/office/drawing/2014/main" id="{C09D5EDF-97CB-B0D1-2BE7-15E6C23CE01A}"/>
              </a:ext>
            </a:extLst>
          </p:cNvPr>
          <p:cNvSpPr>
            <a:spLocks noGrp="1"/>
          </p:cNvSpPr>
          <p:nvPr>
            <p:ph type="sldNum" sz="quarter" idx="12"/>
          </p:nvPr>
        </p:nvSpPr>
        <p:spPr/>
        <p:txBody>
          <a:bodyPr/>
          <a:lstStyle/>
          <a:p>
            <a:fld id="{4F8E779C-ED91-4F95-87E7-CD40D1061BB2}" type="slidenum">
              <a:rPr lang="en-IN" smtClean="0"/>
              <a:t>8</a:t>
            </a:fld>
            <a:endParaRPr lang="en-IN" dirty="0"/>
          </a:p>
        </p:txBody>
      </p:sp>
    </p:spTree>
    <p:extLst>
      <p:ext uri="{BB962C8B-B14F-4D97-AF65-F5344CB8AC3E}">
        <p14:creationId xmlns:p14="http://schemas.microsoft.com/office/powerpoint/2010/main" val="35087418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EC8AA-F48C-12BE-0A3E-17D6E82FBFA2}"/>
              </a:ext>
            </a:extLst>
          </p:cNvPr>
          <p:cNvSpPr>
            <a:spLocks noGrp="1"/>
          </p:cNvSpPr>
          <p:nvPr>
            <p:ph type="title"/>
          </p:nvPr>
        </p:nvSpPr>
        <p:spPr/>
        <p:txBody>
          <a:bodyPr>
            <a:normAutofit/>
          </a:bodyPr>
          <a:lstStyle/>
          <a:p>
            <a:pPr algn="ctr"/>
            <a:r>
              <a:rPr lang="en-IN" sz="3600" b="1" dirty="0">
                <a:latin typeface="Times New Roman" panose="02020603050405020304" pitchFamily="18" charset="0"/>
                <a:cs typeface="Times New Roman" panose="02020603050405020304" pitchFamily="18" charset="0"/>
              </a:rPr>
              <a:t>LABEL TRANSFORMATION</a:t>
            </a:r>
          </a:p>
        </p:txBody>
      </p:sp>
      <p:sp>
        <p:nvSpPr>
          <p:cNvPr id="3" name="Content Placeholder 2">
            <a:extLst>
              <a:ext uri="{FF2B5EF4-FFF2-40B4-BE49-F238E27FC236}">
                <a16:creationId xmlns:a16="http://schemas.microsoft.com/office/drawing/2014/main" id="{6B622BAB-C440-9CD7-0EE9-43AF8F732FFD}"/>
              </a:ext>
            </a:extLst>
          </p:cNvPr>
          <p:cNvSpPr>
            <a:spLocks noGrp="1"/>
          </p:cNvSpPr>
          <p:nvPr>
            <p:ph idx="1"/>
          </p:nvPr>
        </p:nvSpPr>
        <p:spPr/>
        <p:txBody>
          <a:bodyPr>
            <a:normAutofit lnSpcReduction="10000"/>
          </a:bodyPr>
          <a:lstStyle/>
          <a:p>
            <a:pPr algn="just">
              <a:lnSpc>
                <a:spcPct val="150000"/>
              </a:lnSpc>
            </a:pPr>
            <a:r>
              <a:rPr lang="en-US" sz="2400" dirty="0">
                <a:latin typeface="Times New Roman" panose="02020603050405020304" pitchFamily="18" charset="0"/>
                <a:cs typeface="Times New Roman" panose="02020603050405020304" pitchFamily="18" charset="0"/>
              </a:rPr>
              <a:t>Ratings converted into sentiment categories </a:t>
            </a:r>
          </a:p>
          <a:p>
            <a:pPr algn="just">
              <a:lnSpc>
                <a:spcPct val="150000"/>
              </a:lnSpc>
            </a:pPr>
            <a:r>
              <a:rPr lang="en-US" sz="2400" dirty="0">
                <a:latin typeface="Times New Roman" panose="02020603050405020304" pitchFamily="18" charset="0"/>
                <a:cs typeface="Times New Roman" panose="02020603050405020304" pitchFamily="18" charset="0"/>
              </a:rPr>
              <a:t>Mapping applied: </a:t>
            </a:r>
          </a:p>
          <a:p>
            <a:pPr lvl="1" algn="just">
              <a:lnSpc>
                <a:spcPct val="150000"/>
              </a:lnSpc>
            </a:pPr>
            <a:r>
              <a:rPr lang="en-US" dirty="0">
                <a:latin typeface="Times New Roman" panose="02020603050405020304" pitchFamily="18" charset="0"/>
                <a:cs typeface="Times New Roman" panose="02020603050405020304" pitchFamily="18" charset="0"/>
              </a:rPr>
              <a:t>1 ≤ Rating &lt; 3 → Negative </a:t>
            </a:r>
          </a:p>
          <a:p>
            <a:pPr lvl="1" algn="just">
              <a:lnSpc>
                <a:spcPct val="150000"/>
              </a:lnSpc>
            </a:pPr>
            <a:r>
              <a:rPr lang="en-US" dirty="0">
                <a:latin typeface="Times New Roman" panose="02020603050405020304" pitchFamily="18" charset="0"/>
                <a:cs typeface="Times New Roman" panose="02020603050405020304" pitchFamily="18" charset="0"/>
              </a:rPr>
              <a:t>Rating = 3 → Neutral </a:t>
            </a:r>
          </a:p>
          <a:p>
            <a:pPr lvl="1" algn="just">
              <a:lnSpc>
                <a:spcPct val="150000"/>
              </a:lnSpc>
            </a:pPr>
            <a:r>
              <a:rPr lang="en-US" dirty="0">
                <a:latin typeface="Times New Roman" panose="02020603050405020304" pitchFamily="18" charset="0"/>
                <a:cs typeface="Times New Roman" panose="02020603050405020304" pitchFamily="18" charset="0"/>
              </a:rPr>
              <a:t>Rating &gt; 3 → Positive </a:t>
            </a:r>
          </a:p>
          <a:p>
            <a:pPr algn="just">
              <a:lnSpc>
                <a:spcPct val="150000"/>
              </a:lnSpc>
            </a:pPr>
            <a:r>
              <a:rPr lang="en-US" sz="2400" dirty="0">
                <a:latin typeface="Times New Roman" panose="02020603050405020304" pitchFamily="18" charset="0"/>
                <a:cs typeface="Times New Roman" panose="02020603050405020304" pitchFamily="18" charset="0"/>
              </a:rPr>
              <a:t>Converts numerical ratings into class labels </a:t>
            </a:r>
          </a:p>
          <a:p>
            <a:pPr algn="just">
              <a:lnSpc>
                <a:spcPct val="150000"/>
              </a:lnSpc>
            </a:pPr>
            <a:r>
              <a:rPr lang="en-US" sz="2400" dirty="0">
                <a:latin typeface="Times New Roman" panose="02020603050405020304" pitchFamily="18" charset="0"/>
                <a:cs typeface="Times New Roman" panose="02020603050405020304" pitchFamily="18" charset="0"/>
              </a:rPr>
              <a:t>Used for training ML models </a:t>
            </a:r>
          </a:p>
          <a:p>
            <a:pPr algn="just">
              <a:lnSpc>
                <a:spcPct val="150000"/>
              </a:lnSpc>
            </a:pP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FC327F07-C604-5C7C-8B3D-6DA4449999D4}"/>
              </a:ext>
            </a:extLst>
          </p:cNvPr>
          <p:cNvSpPr>
            <a:spLocks noGrp="1"/>
          </p:cNvSpPr>
          <p:nvPr>
            <p:ph type="dt" sz="half" idx="10"/>
          </p:nvPr>
        </p:nvSpPr>
        <p:spPr/>
        <p:txBody>
          <a:bodyPr/>
          <a:lstStyle/>
          <a:p>
            <a:fld id="{748C2B3D-EBD5-4237-BF30-396E79B726C3}" type="datetime1">
              <a:rPr lang="en-US" smtClean="0"/>
              <a:t>4/29/2026</a:t>
            </a:fld>
            <a:endParaRPr lang="en-IN" dirty="0"/>
          </a:p>
        </p:txBody>
      </p:sp>
      <p:sp>
        <p:nvSpPr>
          <p:cNvPr id="5" name="Slide Number Placeholder 4">
            <a:extLst>
              <a:ext uri="{FF2B5EF4-FFF2-40B4-BE49-F238E27FC236}">
                <a16:creationId xmlns:a16="http://schemas.microsoft.com/office/drawing/2014/main" id="{86EDDF2D-69FB-6893-9C77-539702DA6246}"/>
              </a:ext>
            </a:extLst>
          </p:cNvPr>
          <p:cNvSpPr>
            <a:spLocks noGrp="1"/>
          </p:cNvSpPr>
          <p:nvPr>
            <p:ph type="sldNum" sz="quarter" idx="12"/>
          </p:nvPr>
        </p:nvSpPr>
        <p:spPr/>
        <p:txBody>
          <a:bodyPr/>
          <a:lstStyle/>
          <a:p>
            <a:fld id="{4F8E779C-ED91-4F95-87E7-CD40D1061BB2}" type="slidenum">
              <a:rPr lang="en-IN" smtClean="0"/>
              <a:t>9</a:t>
            </a:fld>
            <a:endParaRPr lang="en-IN" dirty="0"/>
          </a:p>
        </p:txBody>
      </p:sp>
      <p:pic>
        <p:nvPicPr>
          <p:cNvPr id="4098" name="Picture 2" descr="A Guide to Rating Scales in Surveys - FreeOnlineSurveys">
            <a:extLst>
              <a:ext uri="{FF2B5EF4-FFF2-40B4-BE49-F238E27FC236}">
                <a16:creationId xmlns:a16="http://schemas.microsoft.com/office/drawing/2014/main" id="{B962923E-8756-FE45-CA3C-A0AF7E8A28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9189" y="2463595"/>
            <a:ext cx="5429250" cy="238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09408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BD182-91AA-B489-C2F5-ADA11CB2FE9E}"/>
              </a:ext>
            </a:extLst>
          </p:cNvPr>
          <p:cNvSpPr>
            <a:spLocks noGrp="1"/>
          </p:cNvSpPr>
          <p:nvPr>
            <p:ph type="title"/>
          </p:nvPr>
        </p:nvSpPr>
        <p:spPr/>
        <p:txBody>
          <a:bodyPr>
            <a:normAutofit/>
          </a:bodyPr>
          <a:lstStyle/>
          <a:p>
            <a:pPr algn="ctr"/>
            <a:r>
              <a:rPr lang="en-IN" sz="3600" b="1" dirty="0">
                <a:latin typeface="Times New Roman" panose="02020603050405020304" pitchFamily="18" charset="0"/>
                <a:cs typeface="Times New Roman" panose="02020603050405020304" pitchFamily="18" charset="0"/>
              </a:rPr>
              <a:t>FEATURE EXTRACTION</a:t>
            </a:r>
          </a:p>
        </p:txBody>
      </p:sp>
      <p:sp>
        <p:nvSpPr>
          <p:cNvPr id="3" name="Content Placeholder 2">
            <a:extLst>
              <a:ext uri="{FF2B5EF4-FFF2-40B4-BE49-F238E27FC236}">
                <a16:creationId xmlns:a16="http://schemas.microsoft.com/office/drawing/2014/main" id="{59205047-3897-3697-5BE9-28E2D7D8CC84}"/>
              </a:ext>
            </a:extLst>
          </p:cNvPr>
          <p:cNvSpPr>
            <a:spLocks noGrp="1"/>
          </p:cNvSpPr>
          <p:nvPr>
            <p:ph idx="1"/>
          </p:nvPr>
        </p:nvSpPr>
        <p:spPr/>
        <p:txBody>
          <a:bodyPr>
            <a:normAutofit lnSpcReduction="10000"/>
          </a:bodyPr>
          <a:lstStyle/>
          <a:p>
            <a:pPr>
              <a:lnSpc>
                <a:spcPct val="150000"/>
              </a:lnSpc>
            </a:pPr>
            <a:r>
              <a:rPr lang="en-US" sz="2400" dirty="0">
                <a:latin typeface="Times New Roman" panose="02020603050405020304" pitchFamily="18" charset="0"/>
                <a:cs typeface="Times New Roman" panose="02020603050405020304" pitchFamily="18" charset="0"/>
              </a:rPr>
              <a:t>Text data cannot be used directly by ML models </a:t>
            </a:r>
          </a:p>
          <a:p>
            <a:pPr>
              <a:lnSpc>
                <a:spcPct val="150000"/>
              </a:lnSpc>
            </a:pPr>
            <a:r>
              <a:rPr lang="en-US" sz="2400" dirty="0">
                <a:latin typeface="Times New Roman" panose="02020603050405020304" pitchFamily="18" charset="0"/>
                <a:cs typeface="Times New Roman" panose="02020603050405020304" pitchFamily="18" charset="0"/>
              </a:rPr>
              <a:t>Convert text into numerical form </a:t>
            </a:r>
          </a:p>
          <a:p>
            <a:pPr>
              <a:lnSpc>
                <a:spcPct val="150000"/>
              </a:lnSpc>
            </a:pPr>
            <a:r>
              <a:rPr lang="en-US" sz="2400" dirty="0">
                <a:latin typeface="Times New Roman" panose="02020603050405020304" pitchFamily="18" charset="0"/>
                <a:cs typeface="Times New Roman" panose="02020603050405020304" pitchFamily="18" charset="0"/>
              </a:rPr>
              <a:t>Used techniques: </a:t>
            </a:r>
          </a:p>
          <a:p>
            <a:pPr lvl="1">
              <a:lnSpc>
                <a:spcPct val="150000"/>
              </a:lnSpc>
            </a:pPr>
            <a:r>
              <a:rPr lang="en-US" dirty="0">
                <a:latin typeface="Times New Roman" panose="02020603050405020304" pitchFamily="18" charset="0"/>
                <a:cs typeface="Times New Roman" panose="02020603050405020304" pitchFamily="18" charset="0"/>
              </a:rPr>
              <a:t>Bag of Words (</a:t>
            </a:r>
            <a:r>
              <a:rPr lang="en-US" dirty="0" err="1">
                <a:latin typeface="Times New Roman" panose="02020603050405020304" pitchFamily="18" charset="0"/>
                <a:cs typeface="Times New Roman" panose="02020603050405020304" pitchFamily="18" charset="0"/>
              </a:rPr>
              <a:t>BoW</a:t>
            </a:r>
            <a:r>
              <a:rPr lang="en-US" dirty="0">
                <a:latin typeface="Times New Roman" panose="02020603050405020304" pitchFamily="18" charset="0"/>
                <a:cs typeface="Times New Roman" panose="02020603050405020304" pitchFamily="18" charset="0"/>
              </a:rPr>
              <a:t>) </a:t>
            </a:r>
          </a:p>
          <a:p>
            <a:pPr lvl="1">
              <a:lnSpc>
                <a:spcPct val="150000"/>
              </a:lnSpc>
            </a:pPr>
            <a:r>
              <a:rPr lang="en-US" dirty="0">
                <a:latin typeface="Times New Roman" panose="02020603050405020304" pitchFamily="18" charset="0"/>
                <a:cs typeface="Times New Roman" panose="02020603050405020304" pitchFamily="18" charset="0"/>
              </a:rPr>
              <a:t>TF-IDF </a:t>
            </a:r>
          </a:p>
          <a:p>
            <a:pPr>
              <a:lnSpc>
                <a:spcPct val="150000"/>
              </a:lnSpc>
            </a:pPr>
            <a:r>
              <a:rPr lang="en-US" sz="2400" dirty="0">
                <a:latin typeface="Times New Roman" panose="02020603050405020304" pitchFamily="18" charset="0"/>
                <a:cs typeface="Times New Roman" panose="02020603050405020304" pitchFamily="18" charset="0"/>
              </a:rPr>
              <a:t>Represents text as vectors </a:t>
            </a:r>
          </a:p>
          <a:p>
            <a:pPr>
              <a:lnSpc>
                <a:spcPct val="150000"/>
              </a:lnSpc>
            </a:pPr>
            <a:r>
              <a:rPr lang="en-US" sz="2400" dirty="0">
                <a:latin typeface="Times New Roman" panose="02020603050405020304" pitchFamily="18" charset="0"/>
                <a:cs typeface="Times New Roman" panose="02020603050405020304" pitchFamily="18" charset="0"/>
              </a:rPr>
              <a:t>Helps models understand word importance </a:t>
            </a:r>
          </a:p>
          <a:p>
            <a:pPr>
              <a:lnSpc>
                <a:spcPct val="150000"/>
              </a:lnSpc>
            </a:pP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A990D06-AF1B-385F-4A5A-A6E64A3368E7}"/>
              </a:ext>
            </a:extLst>
          </p:cNvPr>
          <p:cNvSpPr>
            <a:spLocks noGrp="1"/>
          </p:cNvSpPr>
          <p:nvPr>
            <p:ph type="dt" sz="half" idx="10"/>
          </p:nvPr>
        </p:nvSpPr>
        <p:spPr/>
        <p:txBody>
          <a:bodyPr/>
          <a:lstStyle/>
          <a:p>
            <a:fld id="{748C2B3D-EBD5-4237-BF30-396E79B726C3}" type="datetime1">
              <a:rPr lang="en-US" smtClean="0"/>
              <a:t>4/29/2026</a:t>
            </a:fld>
            <a:endParaRPr lang="en-IN" dirty="0"/>
          </a:p>
        </p:txBody>
      </p:sp>
      <p:sp>
        <p:nvSpPr>
          <p:cNvPr id="5" name="Slide Number Placeholder 4">
            <a:extLst>
              <a:ext uri="{FF2B5EF4-FFF2-40B4-BE49-F238E27FC236}">
                <a16:creationId xmlns:a16="http://schemas.microsoft.com/office/drawing/2014/main" id="{74C953F7-BD31-6614-6E6C-E0F817542BD5}"/>
              </a:ext>
            </a:extLst>
          </p:cNvPr>
          <p:cNvSpPr>
            <a:spLocks noGrp="1"/>
          </p:cNvSpPr>
          <p:nvPr>
            <p:ph type="sldNum" sz="quarter" idx="12"/>
          </p:nvPr>
        </p:nvSpPr>
        <p:spPr/>
        <p:txBody>
          <a:bodyPr/>
          <a:lstStyle/>
          <a:p>
            <a:fld id="{4F8E779C-ED91-4F95-87E7-CD40D1061BB2}" type="slidenum">
              <a:rPr lang="en-IN" smtClean="0"/>
              <a:t>10</a:t>
            </a:fld>
            <a:endParaRPr lang="en-IN" dirty="0"/>
          </a:p>
        </p:txBody>
      </p:sp>
      <p:pic>
        <p:nvPicPr>
          <p:cNvPr id="6146" name="Picture 2" descr="Feature Extraction in Machine Learning: A Complete Guide | DataCamp">
            <a:extLst>
              <a:ext uri="{FF2B5EF4-FFF2-40B4-BE49-F238E27FC236}">
                <a16:creationId xmlns:a16="http://schemas.microsoft.com/office/drawing/2014/main" id="{691342D1-4F72-5DB4-D35D-8DAAD52A3E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1497" y="2969342"/>
            <a:ext cx="7462684" cy="27825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03059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F7421-46D1-2779-66DE-03CC102B6DAF}"/>
              </a:ext>
            </a:extLst>
          </p:cNvPr>
          <p:cNvSpPr>
            <a:spLocks noGrp="1"/>
          </p:cNvSpPr>
          <p:nvPr>
            <p:ph type="title"/>
          </p:nvPr>
        </p:nvSpPr>
        <p:spPr/>
        <p:txBody>
          <a:bodyPr>
            <a:normAutofit/>
          </a:bodyPr>
          <a:lstStyle/>
          <a:p>
            <a:pPr algn="ctr"/>
            <a:r>
              <a:rPr lang="en-IN" sz="3600" b="1" dirty="0">
                <a:latin typeface="Times New Roman" panose="02020603050405020304" pitchFamily="18" charset="0"/>
                <a:cs typeface="Times New Roman" panose="02020603050405020304" pitchFamily="18" charset="0"/>
              </a:rPr>
              <a:t>DECISION TREE MODEL</a:t>
            </a:r>
          </a:p>
        </p:txBody>
      </p:sp>
      <p:sp>
        <p:nvSpPr>
          <p:cNvPr id="3" name="Content Placeholder 2">
            <a:extLst>
              <a:ext uri="{FF2B5EF4-FFF2-40B4-BE49-F238E27FC236}">
                <a16:creationId xmlns:a16="http://schemas.microsoft.com/office/drawing/2014/main" id="{E849E90D-2167-3DB1-4069-A713ACAD876C}"/>
              </a:ext>
            </a:extLst>
          </p:cNvPr>
          <p:cNvSpPr>
            <a:spLocks noGrp="1"/>
          </p:cNvSpPr>
          <p:nvPr>
            <p:ph idx="1"/>
          </p:nvPr>
        </p:nvSpPr>
        <p:spPr/>
        <p:txBody>
          <a:bodyPr>
            <a:normAutofit/>
          </a:bodyPr>
          <a:lstStyle/>
          <a:p>
            <a:pPr algn="just">
              <a:lnSpc>
                <a:spcPct val="150000"/>
              </a:lnSpc>
            </a:pPr>
            <a:r>
              <a:rPr lang="en-US" sz="2400" dirty="0">
                <a:latin typeface="Times New Roman" panose="02020603050405020304" pitchFamily="18" charset="0"/>
                <a:cs typeface="Times New Roman" panose="02020603050405020304" pitchFamily="18" charset="0"/>
              </a:rPr>
              <a:t>Decision Tree is a supervised machine learning algorithm used for classification tasks. It works by creating a tree-like structure where the data is split based on different features. Each branch represents a decision, and the final output represents the predicted class. In this project, the Decision Tree model is used to classify reviews into positive, neutral, or negative sentiments.</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B8E62ED-1124-3C31-1946-FF4AA6F669C9}"/>
              </a:ext>
            </a:extLst>
          </p:cNvPr>
          <p:cNvSpPr>
            <a:spLocks noGrp="1"/>
          </p:cNvSpPr>
          <p:nvPr>
            <p:ph type="dt" sz="half" idx="10"/>
          </p:nvPr>
        </p:nvSpPr>
        <p:spPr/>
        <p:txBody>
          <a:bodyPr/>
          <a:lstStyle/>
          <a:p>
            <a:fld id="{748C2B3D-EBD5-4237-BF30-396E79B726C3}" type="datetime1">
              <a:rPr lang="en-US" smtClean="0"/>
              <a:t>4/29/2026</a:t>
            </a:fld>
            <a:endParaRPr lang="en-IN" dirty="0"/>
          </a:p>
        </p:txBody>
      </p:sp>
      <p:sp>
        <p:nvSpPr>
          <p:cNvPr id="5" name="Slide Number Placeholder 4">
            <a:extLst>
              <a:ext uri="{FF2B5EF4-FFF2-40B4-BE49-F238E27FC236}">
                <a16:creationId xmlns:a16="http://schemas.microsoft.com/office/drawing/2014/main" id="{032C847E-2B59-69A1-7E1E-9E8A365C9FC7}"/>
              </a:ext>
            </a:extLst>
          </p:cNvPr>
          <p:cNvSpPr>
            <a:spLocks noGrp="1"/>
          </p:cNvSpPr>
          <p:nvPr>
            <p:ph type="sldNum" sz="quarter" idx="12"/>
          </p:nvPr>
        </p:nvSpPr>
        <p:spPr/>
        <p:txBody>
          <a:bodyPr/>
          <a:lstStyle/>
          <a:p>
            <a:fld id="{4F8E779C-ED91-4F95-87E7-CD40D1061BB2}" type="slidenum">
              <a:rPr lang="en-IN" smtClean="0"/>
              <a:t>11</a:t>
            </a:fld>
            <a:endParaRPr lang="en-IN" dirty="0"/>
          </a:p>
        </p:txBody>
      </p:sp>
    </p:spTree>
    <p:extLst>
      <p:ext uri="{BB962C8B-B14F-4D97-AF65-F5344CB8AC3E}">
        <p14:creationId xmlns:p14="http://schemas.microsoft.com/office/powerpoint/2010/main" val="29972779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C3054-B6CA-A4B5-F5EB-48A5F6436E02}"/>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			NAIVE BAYES MODEL</a:t>
            </a:r>
          </a:p>
        </p:txBody>
      </p:sp>
      <p:sp>
        <p:nvSpPr>
          <p:cNvPr id="3" name="Content Placeholder 2">
            <a:extLst>
              <a:ext uri="{FF2B5EF4-FFF2-40B4-BE49-F238E27FC236}">
                <a16:creationId xmlns:a16="http://schemas.microsoft.com/office/drawing/2014/main" id="{96F751A5-8386-8385-3264-4C4FC3FED84C}"/>
              </a:ext>
            </a:extLst>
          </p:cNvPr>
          <p:cNvSpPr>
            <a:spLocks noGrp="1"/>
          </p:cNvSpPr>
          <p:nvPr>
            <p:ph idx="1"/>
          </p:nvPr>
        </p:nvSpPr>
        <p:spPr/>
        <p:txBody>
          <a:bodyPr>
            <a:normAutofit/>
          </a:bodyPr>
          <a:lstStyle/>
          <a:p>
            <a:pPr algn="just">
              <a:lnSpc>
                <a:spcPct val="150000"/>
              </a:lnSpc>
            </a:pPr>
            <a:r>
              <a:rPr lang="en-US" sz="2400" dirty="0">
                <a:latin typeface="Times New Roman" panose="02020603050405020304" pitchFamily="18" charset="0"/>
                <a:cs typeface="Times New Roman" panose="02020603050405020304" pitchFamily="18" charset="0"/>
              </a:rPr>
              <a:t>Naive Bayes is a probabilistic machine learning algorithm based on Bayes’ theorem. It assumes that the features are independent of each other and is widely used for text classification tasks. In this project, the Naive Bayes model is applied to classify reviews into positive, neutral, or negative sentiment categories.</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BD6D97A-AC97-E4C7-43FB-A2A95CBFA01C}"/>
              </a:ext>
            </a:extLst>
          </p:cNvPr>
          <p:cNvSpPr>
            <a:spLocks noGrp="1"/>
          </p:cNvSpPr>
          <p:nvPr>
            <p:ph type="dt" sz="half" idx="10"/>
          </p:nvPr>
        </p:nvSpPr>
        <p:spPr/>
        <p:txBody>
          <a:bodyPr/>
          <a:lstStyle/>
          <a:p>
            <a:fld id="{748C2B3D-EBD5-4237-BF30-396E79B726C3}" type="datetime1">
              <a:rPr lang="en-US" smtClean="0"/>
              <a:t>4/29/2026</a:t>
            </a:fld>
            <a:endParaRPr lang="en-IN" dirty="0"/>
          </a:p>
        </p:txBody>
      </p:sp>
      <p:sp>
        <p:nvSpPr>
          <p:cNvPr id="5" name="Slide Number Placeholder 4">
            <a:extLst>
              <a:ext uri="{FF2B5EF4-FFF2-40B4-BE49-F238E27FC236}">
                <a16:creationId xmlns:a16="http://schemas.microsoft.com/office/drawing/2014/main" id="{E78F6C79-F805-6273-3DB6-74E9A71605C7}"/>
              </a:ext>
            </a:extLst>
          </p:cNvPr>
          <p:cNvSpPr>
            <a:spLocks noGrp="1"/>
          </p:cNvSpPr>
          <p:nvPr>
            <p:ph type="sldNum" sz="quarter" idx="12"/>
          </p:nvPr>
        </p:nvSpPr>
        <p:spPr/>
        <p:txBody>
          <a:bodyPr/>
          <a:lstStyle/>
          <a:p>
            <a:fld id="{4F8E779C-ED91-4F95-87E7-CD40D1061BB2}" type="slidenum">
              <a:rPr lang="en-IN" smtClean="0"/>
              <a:t>12</a:t>
            </a:fld>
            <a:endParaRPr lang="en-IN" dirty="0"/>
          </a:p>
        </p:txBody>
      </p:sp>
    </p:spTree>
    <p:extLst>
      <p:ext uri="{BB962C8B-B14F-4D97-AF65-F5344CB8AC3E}">
        <p14:creationId xmlns:p14="http://schemas.microsoft.com/office/powerpoint/2010/main" val="252767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81C68-EDCA-10BF-8A8D-9DAE4E7B13A2}"/>
              </a:ext>
            </a:extLst>
          </p:cNvPr>
          <p:cNvSpPr>
            <a:spLocks noGrp="1"/>
          </p:cNvSpPr>
          <p:nvPr>
            <p:ph type="title"/>
          </p:nvPr>
        </p:nvSpPr>
        <p:spPr/>
        <p:txBody>
          <a:bodyPr>
            <a:normAutofit/>
          </a:bodyPr>
          <a:lstStyle/>
          <a:p>
            <a:pPr algn="ctr"/>
            <a:r>
              <a:rPr lang="en-IN" sz="3600" b="1" dirty="0">
                <a:latin typeface="Times New Roman" panose="02020603050405020304" pitchFamily="18" charset="0"/>
                <a:cs typeface="Times New Roman" panose="02020603050405020304" pitchFamily="18" charset="0"/>
              </a:rPr>
              <a:t>	RESULTS &amp; MODEL COMPARISON</a:t>
            </a:r>
          </a:p>
        </p:txBody>
      </p:sp>
      <p:sp>
        <p:nvSpPr>
          <p:cNvPr id="3" name="Content Placeholder 2">
            <a:extLst>
              <a:ext uri="{FF2B5EF4-FFF2-40B4-BE49-F238E27FC236}">
                <a16:creationId xmlns:a16="http://schemas.microsoft.com/office/drawing/2014/main" id="{12F63DC5-1E5F-9E9F-A201-68F00478B159}"/>
              </a:ext>
            </a:extLst>
          </p:cNvPr>
          <p:cNvSpPr>
            <a:spLocks noGrp="1"/>
          </p:cNvSpPr>
          <p:nvPr>
            <p:ph idx="1"/>
          </p:nvPr>
        </p:nvSpPr>
        <p:spPr/>
        <p:txBody>
          <a:bodyPr>
            <a:normAutofit/>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Both Decision Tree and Naive Bayes models were trained and evaluated on the dataset using accuracy as the performance metric. The Naive Bayes model performed better for text classification tasks, while the Decision Tree model provided better interpretability. The final model selection was based on overall performance.</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B45E22E-4056-3F51-BF04-2AE911570DBD}"/>
              </a:ext>
            </a:extLst>
          </p:cNvPr>
          <p:cNvSpPr>
            <a:spLocks noGrp="1"/>
          </p:cNvSpPr>
          <p:nvPr>
            <p:ph type="dt" sz="half" idx="10"/>
          </p:nvPr>
        </p:nvSpPr>
        <p:spPr/>
        <p:txBody>
          <a:bodyPr/>
          <a:lstStyle/>
          <a:p>
            <a:fld id="{748C2B3D-EBD5-4237-BF30-396E79B726C3}" type="datetime1">
              <a:rPr lang="en-US" smtClean="0"/>
              <a:t>4/29/2026</a:t>
            </a:fld>
            <a:endParaRPr lang="en-IN" dirty="0"/>
          </a:p>
        </p:txBody>
      </p:sp>
      <p:sp>
        <p:nvSpPr>
          <p:cNvPr id="5" name="Slide Number Placeholder 4">
            <a:extLst>
              <a:ext uri="{FF2B5EF4-FFF2-40B4-BE49-F238E27FC236}">
                <a16:creationId xmlns:a16="http://schemas.microsoft.com/office/drawing/2014/main" id="{33A23518-60EB-CF84-01E6-9104B037E3F6}"/>
              </a:ext>
            </a:extLst>
          </p:cNvPr>
          <p:cNvSpPr>
            <a:spLocks noGrp="1"/>
          </p:cNvSpPr>
          <p:nvPr>
            <p:ph type="sldNum" sz="quarter" idx="12"/>
          </p:nvPr>
        </p:nvSpPr>
        <p:spPr/>
        <p:txBody>
          <a:bodyPr/>
          <a:lstStyle/>
          <a:p>
            <a:fld id="{4F8E779C-ED91-4F95-87E7-CD40D1061BB2}" type="slidenum">
              <a:rPr lang="en-IN" smtClean="0"/>
              <a:t>13</a:t>
            </a:fld>
            <a:endParaRPr lang="en-IN" dirty="0"/>
          </a:p>
        </p:txBody>
      </p:sp>
      <p:pic>
        <p:nvPicPr>
          <p:cNvPr id="8" name="Picture 7">
            <a:extLst>
              <a:ext uri="{FF2B5EF4-FFF2-40B4-BE49-F238E27FC236}">
                <a16:creationId xmlns:a16="http://schemas.microsoft.com/office/drawing/2014/main" id="{A413031C-9883-410F-519F-304B17A83F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2335" y="4098952"/>
            <a:ext cx="3087330" cy="2497475"/>
          </a:xfrm>
          <a:prstGeom prst="rect">
            <a:avLst/>
          </a:prstGeom>
        </p:spPr>
      </p:pic>
    </p:spTree>
    <p:extLst>
      <p:ext uri="{BB962C8B-B14F-4D97-AF65-F5344CB8AC3E}">
        <p14:creationId xmlns:p14="http://schemas.microsoft.com/office/powerpoint/2010/main" val="5006898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2C76E-82F5-682E-0440-58A2292E8155}"/>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				CONCLUSION</a:t>
            </a:r>
          </a:p>
        </p:txBody>
      </p:sp>
      <p:sp>
        <p:nvSpPr>
          <p:cNvPr id="3" name="Content Placeholder 2">
            <a:extLst>
              <a:ext uri="{FF2B5EF4-FFF2-40B4-BE49-F238E27FC236}">
                <a16:creationId xmlns:a16="http://schemas.microsoft.com/office/drawing/2014/main" id="{530CF194-B5CC-459D-8914-ED4B13417598}"/>
              </a:ext>
            </a:extLst>
          </p:cNvPr>
          <p:cNvSpPr>
            <a:spLocks noGrp="1"/>
          </p:cNvSpPr>
          <p:nvPr>
            <p:ph idx="1"/>
          </p:nvPr>
        </p:nvSpPr>
        <p:spPr/>
        <p:txBody>
          <a:bodyPr>
            <a:normAutofit/>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In this project, sentiment analysis was successfully performed on textual review data using NLP techniques. After preprocessing and applying VADER sentiment scoring, the ratings were converted into sentiment categories. Machine learning models such as Decision Tree and Naive Bayes were built and evaluated, with Naive Bayes showing better performance for text classification.</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5707164C-E86C-4233-3B75-A30866742588}"/>
              </a:ext>
            </a:extLst>
          </p:cNvPr>
          <p:cNvSpPr>
            <a:spLocks noGrp="1"/>
          </p:cNvSpPr>
          <p:nvPr>
            <p:ph type="dt" sz="half" idx="10"/>
          </p:nvPr>
        </p:nvSpPr>
        <p:spPr/>
        <p:txBody>
          <a:bodyPr/>
          <a:lstStyle/>
          <a:p>
            <a:fld id="{748C2B3D-EBD5-4237-BF30-396E79B726C3}" type="datetime1">
              <a:rPr lang="en-US" smtClean="0"/>
              <a:t>4/29/2026</a:t>
            </a:fld>
            <a:endParaRPr lang="en-IN" dirty="0"/>
          </a:p>
        </p:txBody>
      </p:sp>
      <p:sp>
        <p:nvSpPr>
          <p:cNvPr id="5" name="Slide Number Placeholder 4">
            <a:extLst>
              <a:ext uri="{FF2B5EF4-FFF2-40B4-BE49-F238E27FC236}">
                <a16:creationId xmlns:a16="http://schemas.microsoft.com/office/drawing/2014/main" id="{279BE38C-9400-60C6-7073-5614EB842B6D}"/>
              </a:ext>
            </a:extLst>
          </p:cNvPr>
          <p:cNvSpPr>
            <a:spLocks noGrp="1"/>
          </p:cNvSpPr>
          <p:nvPr>
            <p:ph type="sldNum" sz="quarter" idx="12"/>
          </p:nvPr>
        </p:nvSpPr>
        <p:spPr/>
        <p:txBody>
          <a:bodyPr/>
          <a:lstStyle/>
          <a:p>
            <a:fld id="{4F8E779C-ED91-4F95-87E7-CD40D1061BB2}" type="slidenum">
              <a:rPr lang="en-IN" smtClean="0"/>
              <a:t>14</a:t>
            </a:fld>
            <a:endParaRPr lang="en-IN" dirty="0"/>
          </a:p>
        </p:txBody>
      </p:sp>
    </p:spTree>
    <p:extLst>
      <p:ext uri="{BB962C8B-B14F-4D97-AF65-F5344CB8AC3E}">
        <p14:creationId xmlns:p14="http://schemas.microsoft.com/office/powerpoint/2010/main" val="3767854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064BB-172A-E064-DE1C-A8E397DCCFC1}"/>
              </a:ext>
            </a:extLst>
          </p:cNvPr>
          <p:cNvSpPr>
            <a:spLocks noGrp="1"/>
          </p:cNvSpPr>
          <p:nvPr>
            <p:ph type="title"/>
          </p:nvPr>
        </p:nvSpPr>
        <p:spPr>
          <a:xfrm>
            <a:off x="838200" y="136525"/>
            <a:ext cx="10515600" cy="635635"/>
          </a:xfrm>
        </p:spPr>
        <p:txBody>
          <a:bodyPr>
            <a:normAutofit/>
          </a:bodyPr>
          <a:lstStyle/>
          <a:p>
            <a:pPr algn="ctr"/>
            <a:r>
              <a:rPr lang="en-IN" sz="3600"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524AE8B6-62C0-9368-D5A1-01314EC5AD7F}"/>
              </a:ext>
            </a:extLst>
          </p:cNvPr>
          <p:cNvSpPr>
            <a:spLocks noGrp="1"/>
          </p:cNvSpPr>
          <p:nvPr>
            <p:ph idx="1"/>
          </p:nvPr>
        </p:nvSpPr>
        <p:spPr>
          <a:xfrm>
            <a:off x="360680" y="890904"/>
            <a:ext cx="11628120" cy="5205095"/>
          </a:xfrm>
        </p:spPr>
        <p:txBody>
          <a:bodyPr>
            <a:normAutofit lnSpcReduction="10000"/>
          </a:bodyPr>
          <a:lstStyle/>
          <a:p>
            <a:pPr marL="0" indent="0" algn="just">
              <a:lnSpc>
                <a:spcPct val="150000"/>
              </a:lnSpc>
              <a:buNone/>
            </a:pPr>
            <a:r>
              <a:rPr lang="en-IN" sz="2400" dirty="0">
                <a:latin typeface="Times New Roman" panose="02020603050405020304" pitchFamily="18" charset="0"/>
                <a:cs typeface="Times New Roman" panose="02020603050405020304" pitchFamily="18" charset="0"/>
              </a:rPr>
              <a:t>[1] C. J. Hutto and E. Gilbert, “VADER: A Parsimonious Rule-based Model for Sentiment Analysis of Social Media Text,” </a:t>
            </a:r>
            <a:r>
              <a:rPr lang="en-IN" sz="2400" i="1" dirty="0">
                <a:latin typeface="Times New Roman" panose="02020603050405020304" pitchFamily="18" charset="0"/>
                <a:cs typeface="Times New Roman" panose="02020603050405020304" pitchFamily="18" charset="0"/>
              </a:rPr>
              <a:t>Proc. Int. AAAI Conf. Weblogs Social Media (ICWSM)</a:t>
            </a:r>
            <a:r>
              <a:rPr lang="en-IN" sz="2400" dirty="0">
                <a:latin typeface="Times New Roman" panose="02020603050405020304" pitchFamily="18" charset="0"/>
                <a:cs typeface="Times New Roman" panose="02020603050405020304" pitchFamily="18" charset="0"/>
              </a:rPr>
              <a:t>, 2014.</a:t>
            </a:r>
          </a:p>
          <a:p>
            <a:pPr marL="0" indent="0" algn="just">
              <a:lnSpc>
                <a:spcPct val="150000"/>
              </a:lnSpc>
              <a:buNone/>
            </a:pPr>
            <a:r>
              <a:rPr lang="en-IN" sz="2400" dirty="0">
                <a:latin typeface="Times New Roman" panose="02020603050405020304" pitchFamily="18" charset="0"/>
                <a:cs typeface="Times New Roman" panose="02020603050405020304" pitchFamily="18" charset="0"/>
              </a:rPr>
              <a:t>[2] S. Bird, E. Klein and E. Loper, </a:t>
            </a:r>
            <a:r>
              <a:rPr lang="en-IN" sz="2400" i="1" dirty="0">
                <a:latin typeface="Times New Roman" panose="02020603050405020304" pitchFamily="18" charset="0"/>
                <a:cs typeface="Times New Roman" panose="02020603050405020304" pitchFamily="18" charset="0"/>
              </a:rPr>
              <a:t>Natural Language Processing with Python</a:t>
            </a:r>
            <a:r>
              <a:rPr lang="en-IN" sz="2400" dirty="0">
                <a:latin typeface="Times New Roman" panose="02020603050405020304" pitchFamily="18" charset="0"/>
                <a:cs typeface="Times New Roman" panose="02020603050405020304" pitchFamily="18" charset="0"/>
              </a:rPr>
              <a:t>. Sebastopol, CA, USA: O’Reilly Media, 2009.</a:t>
            </a:r>
          </a:p>
          <a:p>
            <a:pPr marL="0" indent="0" algn="just">
              <a:lnSpc>
                <a:spcPct val="150000"/>
              </a:lnSpc>
              <a:buNone/>
            </a:pPr>
            <a:r>
              <a:rPr lang="en-IN" sz="2400" dirty="0">
                <a:latin typeface="Times New Roman" panose="02020603050405020304" pitchFamily="18" charset="0"/>
                <a:cs typeface="Times New Roman" panose="02020603050405020304" pitchFamily="18" charset="0"/>
              </a:rPr>
              <a:t>[3] F. Pedregosa </a:t>
            </a:r>
            <a:r>
              <a:rPr lang="en-IN" sz="2400" i="1" dirty="0">
                <a:latin typeface="Times New Roman" panose="02020603050405020304" pitchFamily="18" charset="0"/>
                <a:cs typeface="Times New Roman" panose="02020603050405020304" pitchFamily="18" charset="0"/>
              </a:rPr>
              <a:t>et al.</a:t>
            </a:r>
            <a:r>
              <a:rPr lang="en-IN" sz="2400" dirty="0">
                <a:latin typeface="Times New Roman" panose="02020603050405020304" pitchFamily="18" charset="0"/>
                <a:cs typeface="Times New Roman" panose="02020603050405020304" pitchFamily="18" charset="0"/>
              </a:rPr>
              <a:t>, “Scikit-learn: Machine Learning in Python,” </a:t>
            </a:r>
            <a:r>
              <a:rPr lang="en-IN" sz="2400" i="1" dirty="0">
                <a:latin typeface="Times New Roman" panose="02020603050405020304" pitchFamily="18" charset="0"/>
                <a:cs typeface="Times New Roman" panose="02020603050405020304" pitchFamily="18" charset="0"/>
              </a:rPr>
              <a:t>J. Mach. Learn. Res.</a:t>
            </a:r>
            <a:r>
              <a:rPr lang="en-IN" sz="2400" dirty="0">
                <a:latin typeface="Times New Roman" panose="02020603050405020304" pitchFamily="18" charset="0"/>
                <a:cs typeface="Times New Roman" panose="02020603050405020304" pitchFamily="18" charset="0"/>
              </a:rPr>
              <a:t>, vol. 12, pp. 2825–2830, 2011.</a:t>
            </a:r>
          </a:p>
          <a:p>
            <a:pPr marL="0" indent="0" algn="just">
              <a:lnSpc>
                <a:spcPct val="150000"/>
              </a:lnSpc>
              <a:buNone/>
            </a:pPr>
            <a:r>
              <a:rPr lang="en-IN" sz="2400" dirty="0">
                <a:latin typeface="Times New Roman" panose="02020603050405020304" pitchFamily="18" charset="0"/>
                <a:cs typeface="Times New Roman" panose="02020603050405020304" pitchFamily="18" charset="0"/>
              </a:rPr>
              <a:t>[4] C. D. Manning, P. Raghavan and H. Schütze, </a:t>
            </a:r>
            <a:r>
              <a:rPr lang="en-IN" sz="2400" i="1" dirty="0">
                <a:latin typeface="Times New Roman" panose="02020603050405020304" pitchFamily="18" charset="0"/>
                <a:cs typeface="Times New Roman" panose="02020603050405020304" pitchFamily="18" charset="0"/>
              </a:rPr>
              <a:t>Introduction to Information Retrieval</a:t>
            </a:r>
            <a:r>
              <a:rPr lang="en-IN" sz="2400" dirty="0">
                <a:latin typeface="Times New Roman" panose="02020603050405020304" pitchFamily="18" charset="0"/>
                <a:cs typeface="Times New Roman" panose="02020603050405020304" pitchFamily="18" charset="0"/>
              </a:rPr>
              <a:t>. Cambridge, U.K.: Cambridge University Press, 2008.</a:t>
            </a:r>
          </a:p>
        </p:txBody>
      </p:sp>
      <p:sp>
        <p:nvSpPr>
          <p:cNvPr id="4" name="Date Placeholder 3">
            <a:extLst>
              <a:ext uri="{FF2B5EF4-FFF2-40B4-BE49-F238E27FC236}">
                <a16:creationId xmlns:a16="http://schemas.microsoft.com/office/drawing/2014/main" id="{4AA06A63-22D5-554E-852A-1E5536DC0485}"/>
              </a:ext>
            </a:extLst>
          </p:cNvPr>
          <p:cNvSpPr>
            <a:spLocks noGrp="1"/>
          </p:cNvSpPr>
          <p:nvPr>
            <p:ph type="dt" sz="half" idx="10"/>
          </p:nvPr>
        </p:nvSpPr>
        <p:spPr/>
        <p:txBody>
          <a:bodyPr/>
          <a:lstStyle/>
          <a:p>
            <a:fld id="{748C2B3D-EBD5-4237-BF30-396E79B726C3}" type="datetime1">
              <a:rPr lang="en-US" smtClean="0"/>
              <a:t>4/29/2026</a:t>
            </a:fld>
            <a:endParaRPr lang="en-IN" dirty="0"/>
          </a:p>
        </p:txBody>
      </p:sp>
      <p:sp>
        <p:nvSpPr>
          <p:cNvPr id="5" name="Slide Number Placeholder 4">
            <a:extLst>
              <a:ext uri="{FF2B5EF4-FFF2-40B4-BE49-F238E27FC236}">
                <a16:creationId xmlns:a16="http://schemas.microsoft.com/office/drawing/2014/main" id="{EF69B7D3-C5EE-4BE9-AB4E-2158C5212DCC}"/>
              </a:ext>
            </a:extLst>
          </p:cNvPr>
          <p:cNvSpPr>
            <a:spLocks noGrp="1"/>
          </p:cNvSpPr>
          <p:nvPr>
            <p:ph type="sldNum" sz="quarter" idx="12"/>
          </p:nvPr>
        </p:nvSpPr>
        <p:spPr/>
        <p:txBody>
          <a:bodyPr/>
          <a:lstStyle/>
          <a:p>
            <a:fld id="{4F8E779C-ED91-4F95-87E7-CD40D1061BB2}" type="slidenum">
              <a:rPr lang="en-IN" smtClean="0"/>
              <a:t>15</a:t>
            </a:fld>
            <a:endParaRPr lang="en-IN" dirty="0"/>
          </a:p>
        </p:txBody>
      </p:sp>
    </p:spTree>
    <p:extLst>
      <p:ext uri="{BB962C8B-B14F-4D97-AF65-F5344CB8AC3E}">
        <p14:creationId xmlns:p14="http://schemas.microsoft.com/office/powerpoint/2010/main" val="34662474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E51753F-EA8A-DA51-D4DC-C8961C9BB554}"/>
              </a:ext>
            </a:extLst>
          </p:cNvPr>
          <p:cNvSpPr>
            <a:spLocks noGrp="1"/>
          </p:cNvSpPr>
          <p:nvPr>
            <p:ph type="dt" sz="half" idx="10"/>
          </p:nvPr>
        </p:nvSpPr>
        <p:spPr/>
        <p:txBody>
          <a:bodyPr/>
          <a:lstStyle/>
          <a:p>
            <a:fld id="{748C2B3D-EBD5-4237-BF30-396E79B726C3}" type="datetime1">
              <a:rPr lang="en-US" smtClean="0"/>
              <a:t>4/29/2026</a:t>
            </a:fld>
            <a:endParaRPr lang="en-IN" dirty="0"/>
          </a:p>
        </p:txBody>
      </p:sp>
      <p:sp>
        <p:nvSpPr>
          <p:cNvPr id="5" name="Slide Number Placeholder 4">
            <a:extLst>
              <a:ext uri="{FF2B5EF4-FFF2-40B4-BE49-F238E27FC236}">
                <a16:creationId xmlns:a16="http://schemas.microsoft.com/office/drawing/2014/main" id="{E589BBF9-FB97-EF2D-5EC6-9520F66273E0}"/>
              </a:ext>
            </a:extLst>
          </p:cNvPr>
          <p:cNvSpPr>
            <a:spLocks noGrp="1"/>
          </p:cNvSpPr>
          <p:nvPr>
            <p:ph type="sldNum" sz="quarter" idx="12"/>
          </p:nvPr>
        </p:nvSpPr>
        <p:spPr/>
        <p:txBody>
          <a:bodyPr/>
          <a:lstStyle/>
          <a:p>
            <a:fld id="{4F8E779C-ED91-4F95-87E7-CD40D1061BB2}" type="slidenum">
              <a:rPr lang="en-IN" smtClean="0"/>
              <a:t>16</a:t>
            </a:fld>
            <a:endParaRPr lang="en-IN" dirty="0"/>
          </a:p>
        </p:txBody>
      </p:sp>
      <p:pic>
        <p:nvPicPr>
          <p:cNvPr id="1026" name="Picture 2" descr="Flat Thank You Slide Template for PowerPoint">
            <a:extLst>
              <a:ext uri="{FF2B5EF4-FFF2-40B4-BE49-F238E27FC236}">
                <a16:creationId xmlns:a16="http://schemas.microsoft.com/office/drawing/2014/main" id="{27B29E24-3770-C606-5CF7-EDA834D572E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7158" y="283845"/>
            <a:ext cx="10353322" cy="58237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72206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1522</TotalTime>
  <Words>990</Words>
  <Application>Microsoft Office PowerPoint</Application>
  <PresentationFormat>Widescreen</PresentationFormat>
  <Paragraphs>104</Paragraphs>
  <Slides>16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Arial Bold</vt:lpstr>
      <vt:lpstr>Calibri</vt:lpstr>
      <vt:lpstr>Calibri Light</vt:lpstr>
      <vt:lpstr>Times New Roman</vt:lpstr>
      <vt:lpstr>Times New Roman Bold</vt:lpstr>
      <vt:lpstr>Office Theme</vt:lpstr>
      <vt:lpstr>PowerPoint Presentation</vt:lpstr>
      <vt:lpstr>INTRODUCTION</vt:lpstr>
      <vt:lpstr>PROBLEM STATEMENT</vt:lpstr>
      <vt:lpstr>PowerPoint Presentation</vt:lpstr>
      <vt:lpstr>Dataset Description</vt:lpstr>
      <vt:lpstr>SYSTEM WORKFLOW</vt:lpstr>
      <vt:lpstr>DATA PREPROCESSING</vt:lpstr>
      <vt:lpstr>VADER Sentiment Scoring</vt:lpstr>
      <vt:lpstr>LABEL TRANSFORMATION</vt:lpstr>
      <vt:lpstr>FEATURE EXTRACTION</vt:lpstr>
      <vt:lpstr>DECISION TREE MODEL</vt:lpstr>
      <vt:lpstr>   NAIVE BAYES MODEL</vt:lpstr>
      <vt:lpstr> RESULTS &amp; MODEL COMPARISON</vt:lpstr>
      <vt:lpstr>    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syed najeeb</dc:creator>
  <cp:lastModifiedBy>SHAIK REHAN</cp:lastModifiedBy>
  <cp:revision>4</cp:revision>
  <dcterms:created xsi:type="dcterms:W3CDTF">2026-04-22T17:07:56Z</dcterms:created>
  <dcterms:modified xsi:type="dcterms:W3CDTF">2026-04-29T17:07:14Z</dcterms:modified>
</cp:coreProperties>
</file>